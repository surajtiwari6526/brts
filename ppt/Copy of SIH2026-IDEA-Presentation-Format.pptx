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Plus Jakarta Sans ExtraBold"/>
      <p:bold r:id="rId13"/>
      <p:boldItalic r:id="rId14"/>
    </p:embeddedFont>
    <p:embeddedFont>
      <p:font typeface="Garamond"/>
      <p:regular r:id="rId15"/>
      <p:bold r:id="rId16"/>
      <p:italic r:id="rId17"/>
      <p:boldItalic r:id="rId18"/>
    </p:embeddedFont>
    <p:embeddedFont>
      <p:font typeface="Plus Jakarta Sans"/>
      <p:bold r:id="rId19"/>
      <p:boldItalic r:id="rId20"/>
    </p:embeddedFont>
    <p:embeddedFont>
      <p:font typeface="Plus Jakarta Sans SemiBold"/>
      <p:regular r:id="rId21"/>
      <p:bold r:id="rId22"/>
      <p:italic r:id="rId23"/>
      <p:boldItalic r:id="rId24"/>
    </p:embeddedFont>
    <p:embeddedFont>
      <p:font typeface="Plus Jakarta Sans Medium"/>
      <p:regular r:id="rId25"/>
      <p:bold r:id="rId26"/>
      <p:italic r:id="rId27"/>
      <p:boldItalic r:id="rId28"/>
    </p:embeddedFont>
    <p:embeddedFont>
      <p:font typeface="Oswald"/>
      <p:regular r:id="rId29"/>
      <p:bold r:id="rId30"/>
    </p:embeddedFont>
    <p:embeddedFont>
      <p:font typeface="JetBrains Mono"/>
      <p:bold r:id="rId31"/>
      <p:boldItalic r:id="rId32"/>
    </p:embeddedFont>
    <p:embeddedFont>
      <p:font typeface="Space Grotesk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h3stmH/5xlAtCCKBV7nEi/ED8d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Italic.fntdata"/><Relationship Id="rId22" Type="http://schemas.openxmlformats.org/officeDocument/2006/relationships/font" Target="fonts/PlusJakartaSansSemiBold-bold.fntdata"/><Relationship Id="rId21" Type="http://schemas.openxmlformats.org/officeDocument/2006/relationships/font" Target="fonts/PlusJakartaSansSemiBold-regular.fntdata"/><Relationship Id="rId24" Type="http://schemas.openxmlformats.org/officeDocument/2006/relationships/font" Target="fonts/PlusJakartaSansSemiBold-boldItalic.fntdata"/><Relationship Id="rId23" Type="http://schemas.openxmlformats.org/officeDocument/2006/relationships/font" Target="fonts/PlusJakartaSans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usJakartaSansMedium-bold.fntdata"/><Relationship Id="rId25" Type="http://schemas.openxmlformats.org/officeDocument/2006/relationships/font" Target="fonts/PlusJakartaSansMedium-regular.fntdata"/><Relationship Id="rId28" Type="http://schemas.openxmlformats.org/officeDocument/2006/relationships/font" Target="fonts/PlusJakartaSansMedium-boldItalic.fntdata"/><Relationship Id="rId27" Type="http://schemas.openxmlformats.org/officeDocument/2006/relationships/font" Target="fonts/PlusJakartaSans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swa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JetBrainsMono-bold.fntdata"/><Relationship Id="rId30" Type="http://schemas.openxmlformats.org/officeDocument/2006/relationships/font" Target="fonts/Oswald-bold.fntdata"/><Relationship Id="rId11" Type="http://schemas.openxmlformats.org/officeDocument/2006/relationships/slide" Target="slides/slide6.xml"/><Relationship Id="rId33" Type="http://schemas.openxmlformats.org/officeDocument/2006/relationships/font" Target="fonts/SpaceGrotesk-bold.fntdata"/><Relationship Id="rId10" Type="http://schemas.openxmlformats.org/officeDocument/2006/relationships/slide" Target="slides/slide5.xml"/><Relationship Id="rId32" Type="http://schemas.openxmlformats.org/officeDocument/2006/relationships/font" Target="fonts/JetBrainsMono-boldItalic.fntdata"/><Relationship Id="rId13" Type="http://schemas.openxmlformats.org/officeDocument/2006/relationships/font" Target="fonts/PlusJakartaSansExtraBold-bold.fntdata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font" Target="fonts/Garamond-regular.fntdata"/><Relationship Id="rId14" Type="http://schemas.openxmlformats.org/officeDocument/2006/relationships/font" Target="fonts/PlusJakartaSansExtraBold-boldItalic.fntdata"/><Relationship Id="rId17" Type="http://schemas.openxmlformats.org/officeDocument/2006/relationships/font" Target="fonts/Garamond-italic.fntdata"/><Relationship Id="rId16" Type="http://schemas.openxmlformats.org/officeDocument/2006/relationships/font" Target="fonts/Garamond-bold.fntdata"/><Relationship Id="rId19" Type="http://schemas.openxmlformats.org/officeDocument/2006/relationships/font" Target="fonts/PlusJakartaSans-bold.fntdata"/><Relationship Id="rId18" Type="http://schemas.openxmlformats.org/officeDocument/2006/relationships/font" Target="fonts/Garamon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409fd4ada4e_9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409fd4ada4e_9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40a0314b14e_0_26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96" name="Google Shape;96;g40a0314b14e_0_2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g40a0314b14e_0_26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409fd4ada4e_9_1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218" name="Google Shape;218;g409fd4ada4e_9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g409fd4ada4e_9_1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40a0314b14e_0_29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292" name="Google Shape;292;g40a0314b14e_0_2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g40a0314b14e_0_298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40a0314b14e_0_42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382" name="Google Shape;382;g40a0314b14e_0_4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3" name="Google Shape;383;g40a0314b14e_0_424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40a0314b14e_0_45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455" name="Google Shape;455;g40a0314b14e_0_4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g40a0314b14e_0_455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409fd4ada4e_9_2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529" name="Google Shape;529;g409fd4ada4e_9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0" name="Google Shape;530;g409fd4ada4e_9_26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409fd4ada4e_9_6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g409fd4ada4e_9_6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g409fd4ada4e_9_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409fd4ada4e_9_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g409fd4ada4e_9_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409fd4ada4e_9_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409fd4ada4e_9_12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g409fd4ada4e_9_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409fd4ada4e_9_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409fd4ada4e_9_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409fd4ada4e_9_18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409fd4ada4e_9_18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g409fd4ada4e_9_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g409fd4ada4e_9_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409fd4ada4e_9_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409fd4ada4e_9_2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409fd4ada4e_9_24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g409fd4ada4e_9_24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g409fd4ada4e_9_2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409fd4ada4e_9_2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g409fd4ada4e_9_2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409fd4ada4e_9_3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g409fd4ada4e_9_31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g409fd4ada4e_9_31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g409fd4ada4e_9_31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g409fd4ada4e_9_31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g409fd4ada4e_9_3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409fd4ada4e_9_3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409fd4ada4e_9_3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409fd4ada4e_9_4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g409fd4ada4e_9_4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409fd4ada4e_9_4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409fd4ada4e_9_4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409fd4ada4e_9_4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409fd4ada4e_9_4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g409fd4ada4e_9_4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09fd4ada4e_9_4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409fd4ada4e_9_4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g409fd4ada4e_9_4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g409fd4ada4e_9_4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409fd4ada4e_9_4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409fd4ada4e_9_4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409fd4ada4e_9_56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409fd4ada4e_9_56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g409fd4ada4e_9_56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g409fd4ada4e_9_5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409fd4ada4e_9_5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409fd4ada4e_9_5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409fd4ada4e_9_6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g409fd4ada4e_9_63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g409fd4ada4e_9_6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409fd4ada4e_9_6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409fd4ada4e_9_6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409fd4ada4e_9_69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g409fd4ada4e_9_69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g409fd4ada4e_9_6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409fd4ada4e_9_6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g409fd4ada4e_9_6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409fd4ada4e_9_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g409fd4ada4e_9_0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409fd4ada4e_9_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g409fd4ada4e_9_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g409fd4ada4e_9_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409fd4ada4e_9_75"/>
          <p:cNvSpPr/>
          <p:nvPr/>
        </p:nvSpPr>
        <p:spPr>
          <a:xfrm>
            <a:off x="71025" y="-12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409fd4ada4e_9_75"/>
          <p:cNvSpPr/>
          <p:nvPr/>
        </p:nvSpPr>
        <p:spPr>
          <a:xfrm>
            <a:off x="6854905" y="851508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g409fd4ada4e_9_75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8178691" y="1899681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409fd4ada4e_9_75"/>
          <p:cNvSpPr txBox="1"/>
          <p:nvPr>
            <p:ph type="ctrTitle"/>
          </p:nvPr>
        </p:nvSpPr>
        <p:spPr>
          <a:xfrm>
            <a:off x="11" y="1493"/>
            <a:ext cx="10363200" cy="20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2" name="Google Shape;92;g409fd4ada4e_9_75"/>
          <p:cNvSpPr txBox="1"/>
          <p:nvPr/>
        </p:nvSpPr>
        <p:spPr>
          <a:xfrm>
            <a:off x="331275" y="2831675"/>
            <a:ext cx="7129200" cy="292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ID – </a:t>
            </a:r>
            <a:r>
              <a:rPr b="0" lang="en-US" sz="2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26205</a:t>
            </a:r>
            <a:endParaRPr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Title – </a:t>
            </a:r>
            <a:r>
              <a:rPr lang="en-US" sz="2000">
                <a:solidFill>
                  <a:srgbClr val="000000"/>
                </a:solidFill>
              </a:rPr>
              <a:t>Student Innovation: Urban Transport &amp; Infrastructure Solutions</a:t>
            </a:r>
            <a:endParaRPr sz="1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Theme – </a:t>
            </a:r>
            <a:r>
              <a:rPr b="0" lang="en-US" sz="2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Transportation &amp; Logistics</a:t>
            </a:r>
            <a:endParaRPr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 Category – </a:t>
            </a:r>
            <a:r>
              <a:rPr b="0" lang="en-US" sz="2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  <a:endParaRPr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ID –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1200"/>
              </a:spcAft>
              <a:buClr>
                <a:srgbClr val="0F172A"/>
              </a:buClr>
              <a:buSzPts val="2000"/>
              <a:buFont typeface="Arial"/>
              <a:buChar char="●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Team Name – </a:t>
            </a:r>
            <a:r>
              <a:rPr lang="en-US" sz="2000">
                <a:solidFill>
                  <a:srgbClr val="334155"/>
                </a:solidFill>
              </a:rPr>
              <a:t>Bit Wizards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g409fd4ada4e_9_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40a0314b14e_0_2629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40a0314b14e_0_2629"/>
          <p:cNvSpPr txBox="1"/>
          <p:nvPr>
            <p:ph type="title"/>
          </p:nvPr>
        </p:nvSpPr>
        <p:spPr>
          <a:xfrm>
            <a:off x="2000250" y="171450"/>
            <a:ext cx="7620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5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BRTS-Pulse: Dynamic Passenger &amp; Fleet Redistribution</a:t>
            </a:r>
            <a:endParaRPr b="1" sz="2405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ctr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AI-Driven Operations &amp; Real-Time Transit Load Balancing</a:t>
            </a:r>
            <a:endParaRPr b="1" sz="1018">
              <a:solidFill>
                <a:srgbClr val="2563E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1" name="Google Shape;101;g40a0314b14e_0_2629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2" name="Google Shape;102;g40a0314b14e_0_2629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3" name="Google Shape;103;g40a0314b14e_0_26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g40a0314b14e_0_2629"/>
          <p:cNvGrpSpPr/>
          <p:nvPr/>
        </p:nvGrpSpPr>
        <p:grpSpPr>
          <a:xfrm>
            <a:off x="457200" y="1190625"/>
            <a:ext cx="11277750" cy="5000700"/>
            <a:chOff x="457200" y="1190625"/>
            <a:chExt cx="11277750" cy="5000700"/>
          </a:xfrm>
        </p:grpSpPr>
        <p:sp>
          <p:nvSpPr>
            <p:cNvPr id="105" name="Google Shape;105;g40a0314b14e_0_2629"/>
            <p:cNvSpPr/>
            <p:nvPr/>
          </p:nvSpPr>
          <p:spPr>
            <a:xfrm>
              <a:off x="457200" y="1190625"/>
              <a:ext cx="4095900" cy="5000700"/>
            </a:xfrm>
            <a:prstGeom prst="roundRect">
              <a:avLst>
                <a:gd fmla="val 3720" name="adj"/>
              </a:avLst>
            </a:prstGeom>
            <a:solidFill>
              <a:srgbClr val="FEF2F2"/>
            </a:solidFill>
            <a:ln cap="flat" cmpd="sng" w="14300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6" name="Google Shape;106;g40a0314b14e_0_2629"/>
            <p:cNvGrpSpPr/>
            <p:nvPr/>
          </p:nvGrpSpPr>
          <p:grpSpPr>
            <a:xfrm>
              <a:off x="647700" y="1381125"/>
              <a:ext cx="3714900" cy="552600"/>
              <a:chOff x="0" y="0"/>
              <a:chExt cx="3714900" cy="552600"/>
            </a:xfrm>
          </p:grpSpPr>
          <p:sp>
            <p:nvSpPr>
              <p:cNvPr id="107" name="Google Shape;107;g40a0314b14e_0_2629"/>
              <p:cNvSpPr/>
              <p:nvPr/>
            </p:nvSpPr>
            <p:spPr>
              <a:xfrm>
                <a:off x="0" y="0"/>
                <a:ext cx="1143000" cy="209700"/>
              </a:xfrm>
              <a:prstGeom prst="roundRect">
                <a:avLst>
                  <a:gd fmla="val 50000" name="adj"/>
                </a:avLst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g40a0314b14e_0_2629"/>
              <p:cNvSpPr txBox="1"/>
              <p:nvPr/>
            </p:nvSpPr>
            <p:spPr>
              <a:xfrm>
                <a:off x="0" y="0"/>
                <a:ext cx="11430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50">
                    <a:solidFill>
                      <a:srgbClr val="FFFF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THE PROBLEM</a:t>
                </a:r>
                <a:endParaRPr b="1" sz="85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109" name="Google Shape;109;g40a0314b14e_0_2629"/>
              <p:cNvSpPr txBox="1"/>
              <p:nvPr/>
            </p:nvSpPr>
            <p:spPr>
              <a:xfrm>
                <a:off x="0" y="266700"/>
                <a:ext cx="3714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991B1B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Transit Load Imbalance</a:t>
                </a:r>
                <a:endParaRPr b="1" sz="1400">
                  <a:solidFill>
                    <a:srgbClr val="991B1B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110" name="Google Shape;110;g40a0314b14e_0_2629"/>
            <p:cNvGrpSpPr/>
            <p:nvPr/>
          </p:nvGrpSpPr>
          <p:grpSpPr>
            <a:xfrm>
              <a:off x="647700" y="2047875"/>
              <a:ext cx="3714900" cy="1714500"/>
              <a:chOff x="0" y="0"/>
              <a:chExt cx="3714900" cy="1714500"/>
            </a:xfrm>
          </p:grpSpPr>
          <p:sp>
            <p:nvSpPr>
              <p:cNvPr id="111" name="Google Shape;111;g40a0314b14e_0_2629"/>
              <p:cNvSpPr/>
              <p:nvPr/>
            </p:nvSpPr>
            <p:spPr>
              <a:xfrm>
                <a:off x="0" y="0"/>
                <a:ext cx="3714900" cy="1714500"/>
              </a:xfrm>
              <a:prstGeom prst="roundRect">
                <a:avLst>
                  <a:gd fmla="val 6666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FECAC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g40a0314b14e_0_2629"/>
              <p:cNvSpPr/>
              <p:nvPr/>
            </p:nvSpPr>
            <p:spPr>
              <a:xfrm>
                <a:off x="0" y="0"/>
                <a:ext cx="57300" cy="1714500"/>
              </a:xfrm>
              <a:prstGeom prst="roundRect">
                <a:avLst>
                  <a:gd fmla="val 50000" name="adj"/>
                </a:avLst>
              </a:prstGeom>
              <a:solidFill>
                <a:srgbClr val="DC26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g40a0314b14e_0_2629"/>
              <p:cNvSpPr txBox="1"/>
              <p:nvPr/>
            </p:nvSpPr>
            <p:spPr>
              <a:xfrm>
                <a:off x="190500" y="114300"/>
                <a:ext cx="3333900" cy="1047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20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Route 9 Corridor </a:t>
                </a:r>
                <a:r>
                  <a:rPr b="1" i="0" lang="en-US" sz="900">
                    <a:solidFill>
                      <a:srgbClr val="DC2626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&gt;85% PLF (Overloaded)</a:t>
                </a:r>
                <a:endParaRPr b="1" i="0" sz="12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i="0" lang="en-US" sz="95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Severe passenger crowding &amp; long queues at RTO Circle, Gujarat Univ &amp; LD College.</a:t>
                </a:r>
                <a:endParaRPr b="0" i="0" sz="9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1" i="0" lang="en-US" sz="850">
                    <a:solidFill>
                      <a:srgbClr val="DC2626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🔥 CRITICAL CROWD: 92% Capacity Utilized</a:t>
                </a:r>
                <a:endParaRPr b="1" i="0" sz="850">
                  <a:solidFill>
                    <a:srgbClr val="DC262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114" name="Google Shape;114;g40a0314b14e_0_2629"/>
            <p:cNvGrpSpPr/>
            <p:nvPr/>
          </p:nvGrpSpPr>
          <p:grpSpPr>
            <a:xfrm>
              <a:off x="647700" y="3905250"/>
              <a:ext cx="3714900" cy="1714500"/>
              <a:chOff x="0" y="0"/>
              <a:chExt cx="3714900" cy="1714500"/>
            </a:xfrm>
          </p:grpSpPr>
          <p:sp>
            <p:nvSpPr>
              <p:cNvPr id="115" name="Google Shape;115;g40a0314b14e_0_2629"/>
              <p:cNvSpPr/>
              <p:nvPr/>
            </p:nvSpPr>
            <p:spPr>
              <a:xfrm>
                <a:off x="0" y="0"/>
                <a:ext cx="3714900" cy="1714500"/>
              </a:xfrm>
              <a:prstGeom prst="roundRect">
                <a:avLst>
                  <a:gd fmla="val 6666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FED7A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g40a0314b14e_0_2629"/>
              <p:cNvSpPr/>
              <p:nvPr/>
            </p:nvSpPr>
            <p:spPr>
              <a:xfrm>
                <a:off x="0" y="0"/>
                <a:ext cx="57300" cy="1714500"/>
              </a:xfrm>
              <a:prstGeom prst="roundRect">
                <a:avLst>
                  <a:gd fmla="val 50000" name="adj"/>
                </a:avLst>
              </a:pr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g40a0314b14e_0_2629"/>
              <p:cNvSpPr txBox="1"/>
              <p:nvPr/>
            </p:nvSpPr>
            <p:spPr>
              <a:xfrm>
                <a:off x="190500" y="114300"/>
                <a:ext cx="3333900" cy="1047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20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Route 12 Corridor </a:t>
                </a:r>
                <a:r>
                  <a:rPr b="1" i="0" lang="en-US" sz="900">
                    <a:solidFill>
                      <a:srgbClr val="16A34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&lt;30% PLF (Underutilized)</a:t>
                </a:r>
                <a:endParaRPr b="1" i="0" sz="12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i="0" lang="en-US" sz="95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Buses operating below threshold with empty seats, causing fuel &amp; fleet wastage.</a:t>
                </a:r>
                <a:endParaRPr b="0" i="0" sz="9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1" i="0" lang="en-US" sz="850">
                    <a:solidFill>
                      <a:srgbClr val="16A34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🍃 LOW LOAD: 24% Capacity Utilized (Seats Empty)</a:t>
                </a:r>
                <a:endParaRPr b="1" i="0" sz="850">
                  <a:solidFill>
                    <a:srgbClr val="16A34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sp>
          <p:nvSpPr>
            <p:cNvPr id="118" name="Google Shape;118;g40a0314b14e_0_2629"/>
            <p:cNvSpPr/>
            <p:nvPr/>
          </p:nvSpPr>
          <p:spPr>
            <a:xfrm>
              <a:off x="4781550" y="1190625"/>
              <a:ext cx="6953400" cy="5000700"/>
            </a:xfrm>
            <a:prstGeom prst="roundRect">
              <a:avLst>
                <a:gd fmla="val 3047" name="adj"/>
              </a:avLst>
            </a:prstGeom>
            <a:solidFill>
              <a:srgbClr val="F0F9FF"/>
            </a:solidFill>
            <a:ln cap="flat" cmpd="sng" w="14300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9" name="Google Shape;119;g40a0314b14e_0_2629"/>
            <p:cNvGrpSpPr/>
            <p:nvPr/>
          </p:nvGrpSpPr>
          <p:grpSpPr>
            <a:xfrm>
              <a:off x="4972050" y="1381125"/>
              <a:ext cx="6572400" cy="552600"/>
              <a:chOff x="0" y="0"/>
              <a:chExt cx="6572400" cy="552600"/>
            </a:xfrm>
          </p:grpSpPr>
          <p:sp>
            <p:nvSpPr>
              <p:cNvPr id="120" name="Google Shape;120;g40a0314b14e_0_2629"/>
              <p:cNvSpPr/>
              <p:nvPr/>
            </p:nvSpPr>
            <p:spPr>
              <a:xfrm>
                <a:off x="0" y="0"/>
                <a:ext cx="1143000" cy="2097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g40a0314b14e_0_2629"/>
              <p:cNvSpPr txBox="1"/>
              <p:nvPr/>
            </p:nvSpPr>
            <p:spPr>
              <a:xfrm>
                <a:off x="0" y="0"/>
                <a:ext cx="11430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50">
                    <a:solidFill>
                      <a:srgbClr val="FFFF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THE SOLUTION</a:t>
                </a:r>
                <a:endParaRPr b="1" sz="85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122" name="Google Shape;122;g40a0314b14e_0_2629"/>
              <p:cNvSpPr txBox="1"/>
              <p:nvPr/>
            </p:nvSpPr>
            <p:spPr>
              <a:xfrm>
                <a:off x="0" y="266700"/>
                <a:ext cx="6572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1E40A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BRTS-Pulse Dynamic Fleet Redistribution</a:t>
                </a:r>
                <a:endParaRPr b="1" sz="1400">
                  <a:solidFill>
                    <a:srgbClr val="1E40A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123" name="Google Shape;123;g40a0314b14e_0_2629"/>
            <p:cNvGrpSpPr/>
            <p:nvPr/>
          </p:nvGrpSpPr>
          <p:grpSpPr>
            <a:xfrm>
              <a:off x="4972050" y="2000250"/>
              <a:ext cx="6572400" cy="400200"/>
              <a:chOff x="0" y="0"/>
              <a:chExt cx="6572400" cy="400200"/>
            </a:xfrm>
          </p:grpSpPr>
          <p:sp>
            <p:nvSpPr>
              <p:cNvPr id="124" name="Google Shape;124;g40a0314b14e_0_2629"/>
              <p:cNvSpPr/>
              <p:nvPr/>
            </p:nvSpPr>
            <p:spPr>
              <a:xfrm>
                <a:off x="0" y="0"/>
                <a:ext cx="6572400" cy="400200"/>
              </a:xfrm>
              <a:prstGeom prst="roundRect">
                <a:avLst>
                  <a:gd fmla="val 19047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g40a0314b14e_0_2629"/>
              <p:cNvSpPr txBox="1"/>
              <p:nvPr/>
            </p:nvSpPr>
            <p:spPr>
              <a:xfrm>
                <a:off x="142875" y="0"/>
                <a:ext cx="62865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FFFFFF"/>
                    </a:solidFill>
                    <a:latin typeface="Plus Jakarta Sans SemiBold"/>
                    <a:ea typeface="Plus Jakarta Sans SemiBold"/>
                    <a:cs typeface="Plus Jakarta Sans SemiBold"/>
                    <a:sym typeface="Plus Jakarta Sans SemiBold"/>
                  </a:rPr>
                  <a:t>⚡ Reallocates idle Route 12 buses to </a:t>
                </a:r>
                <a:r>
                  <a:rPr b="0" lang="en-US" sz="1050">
                    <a:solidFill>
                      <a:srgbClr val="FEF08A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Express 9X corridor</a:t>
                </a:r>
                <a:r>
                  <a:rPr b="0" lang="en-US" sz="1050">
                    <a:solidFill>
                      <a:srgbClr val="FFFFFF"/>
                    </a:solidFill>
                    <a:latin typeface="Plus Jakarta Sans SemiBold"/>
                    <a:ea typeface="Plus Jakarta Sans SemiBold"/>
                    <a:cs typeface="Plus Jakarta Sans SemiBold"/>
                    <a:sym typeface="Plus Jakarta Sans SemiBold"/>
                  </a:rPr>
                  <a:t> in &lt;5s to balance load</a:t>
                </a:r>
                <a:endParaRPr b="0" sz="1050">
                  <a:solidFill>
                    <a:srgbClr val="FFFFFF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endParaRPr>
              </a:p>
            </p:txBody>
          </p:sp>
        </p:grpSp>
        <p:grpSp>
          <p:nvGrpSpPr>
            <p:cNvPr id="126" name="Google Shape;126;g40a0314b14e_0_2629"/>
            <p:cNvGrpSpPr/>
            <p:nvPr/>
          </p:nvGrpSpPr>
          <p:grpSpPr>
            <a:xfrm>
              <a:off x="4972050" y="2524125"/>
              <a:ext cx="2114700" cy="2095500"/>
              <a:chOff x="0" y="0"/>
              <a:chExt cx="2114700" cy="2095500"/>
            </a:xfrm>
          </p:grpSpPr>
          <p:sp>
            <p:nvSpPr>
              <p:cNvPr id="127" name="Google Shape;127;g40a0314b14e_0_2629"/>
              <p:cNvSpPr/>
              <p:nvPr/>
            </p:nvSpPr>
            <p:spPr>
              <a:xfrm>
                <a:off x="0" y="0"/>
                <a:ext cx="2114700" cy="2095500"/>
              </a:xfrm>
              <a:prstGeom prst="roundRect">
                <a:avLst>
                  <a:gd fmla="val 545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28" name="Google Shape;128;g40a0314b14e_0_2629"/>
              <p:cNvPicPr preferRelativeResize="0"/>
              <p:nvPr/>
            </p:nvPicPr>
            <p:blipFill rotWithShape="1">
              <a:blip r:embed="rId4">
                <a:alphaModFix/>
              </a:blip>
              <a:srcRect b="-1980" l="0" r="0" t="1990"/>
              <a:stretch/>
            </p:blipFill>
            <p:spPr>
              <a:xfrm>
                <a:off x="152400" y="152400"/>
                <a:ext cx="304800" cy="317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9" name="Google Shape;129;g40a0314b14e_0_2629"/>
              <p:cNvSpPr txBox="1"/>
              <p:nvPr/>
            </p:nvSpPr>
            <p:spPr>
              <a:xfrm>
                <a:off x="152400" y="552450"/>
                <a:ext cx="18096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Unified Command Center</a:t>
                </a:r>
                <a:endParaRPr b="1" sz="12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Monitors </a:t>
                </a:r>
                <a:r>
                  <a:rPr b="1" lang="en-US" sz="100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250+ live bus positions</a:t>
                </a:r>
                <a:r>
                  <a:rPr lang="en-US" sz="100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, real-time PLF, queue lengths at </a:t>
                </a:r>
                <a:r>
                  <a:rPr b="1" lang="en-US" sz="100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140+ stations</a:t>
                </a:r>
                <a:r>
                  <a:rPr lang="en-US" sz="100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&amp; ticket counters.</a:t>
                </a:r>
                <a:endParaRPr sz="100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130" name="Google Shape;130;g40a0314b14e_0_2629"/>
            <p:cNvGrpSpPr/>
            <p:nvPr/>
          </p:nvGrpSpPr>
          <p:grpSpPr>
            <a:xfrm>
              <a:off x="7200900" y="2524125"/>
              <a:ext cx="2114700" cy="2095500"/>
              <a:chOff x="0" y="0"/>
              <a:chExt cx="2114700" cy="2095500"/>
            </a:xfrm>
          </p:grpSpPr>
          <p:sp>
            <p:nvSpPr>
              <p:cNvPr id="131" name="Google Shape;131;g40a0314b14e_0_2629"/>
              <p:cNvSpPr/>
              <p:nvPr/>
            </p:nvSpPr>
            <p:spPr>
              <a:xfrm>
                <a:off x="0" y="0"/>
                <a:ext cx="2114700" cy="2095500"/>
              </a:xfrm>
              <a:prstGeom prst="roundRect">
                <a:avLst>
                  <a:gd fmla="val 545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32" name="Google Shape;132;g40a0314b14e_0_2629"/>
              <p:cNvPicPr preferRelativeResize="0"/>
              <p:nvPr/>
            </p:nvPicPr>
            <p:blipFill rotWithShape="1">
              <a:blip r:embed="rId5">
                <a:alphaModFix/>
              </a:blip>
              <a:srcRect b="-1980" l="0" r="0" t="1990"/>
              <a:stretch/>
            </p:blipFill>
            <p:spPr>
              <a:xfrm>
                <a:off x="152400" y="152400"/>
                <a:ext cx="304800" cy="317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3" name="Google Shape;133;g40a0314b14e_0_2629"/>
              <p:cNvSpPr txBox="1"/>
              <p:nvPr/>
            </p:nvSpPr>
            <p:spPr>
              <a:xfrm>
                <a:off x="152400" y="552450"/>
                <a:ext cx="18096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Smart Dispatch Engine</a:t>
                </a:r>
                <a:endParaRPr b="1" sz="12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Identifies imbalance &amp; auto-recommends </a:t>
                </a:r>
                <a:r>
                  <a:rPr b="1" lang="en-US" sz="1000">
                    <a:solidFill>
                      <a:srgbClr val="2563E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Express 9X diversions</a:t>
                </a:r>
                <a:r>
                  <a:rPr lang="en-US" sz="100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instantly.</a:t>
                </a:r>
                <a:endParaRPr sz="100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134" name="Google Shape;134;g40a0314b14e_0_2629"/>
            <p:cNvGrpSpPr/>
            <p:nvPr/>
          </p:nvGrpSpPr>
          <p:grpSpPr>
            <a:xfrm>
              <a:off x="9429750" y="2524125"/>
              <a:ext cx="2114700" cy="2095500"/>
              <a:chOff x="0" y="0"/>
              <a:chExt cx="2114700" cy="2095500"/>
            </a:xfrm>
          </p:grpSpPr>
          <p:sp>
            <p:nvSpPr>
              <p:cNvPr id="135" name="Google Shape;135;g40a0314b14e_0_2629"/>
              <p:cNvSpPr/>
              <p:nvPr/>
            </p:nvSpPr>
            <p:spPr>
              <a:xfrm>
                <a:off x="0" y="0"/>
                <a:ext cx="2114700" cy="2095500"/>
              </a:xfrm>
              <a:prstGeom prst="roundRect">
                <a:avLst>
                  <a:gd fmla="val 545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36" name="Google Shape;136;g40a0314b14e_0_2629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40208" y="152400"/>
                <a:ext cx="329100" cy="304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7" name="Google Shape;137;g40a0314b14e_0_2629"/>
              <p:cNvSpPr txBox="1"/>
              <p:nvPr/>
            </p:nvSpPr>
            <p:spPr>
              <a:xfrm>
                <a:off x="152400" y="552450"/>
                <a:ext cx="18096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Multi-Role System</a:t>
                </a:r>
                <a:endParaRPr b="1" sz="12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Powers synchronized </a:t>
                </a:r>
                <a:r>
                  <a:rPr b="1" lang="en-US" sz="100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Operator</a:t>
                </a:r>
                <a:r>
                  <a:rPr lang="en-US" sz="100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, </a:t>
                </a:r>
                <a:r>
                  <a:rPr b="1" lang="en-US" sz="100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Driver HUD</a:t>
                </a:r>
                <a:r>
                  <a:rPr lang="en-US" sz="100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, and </a:t>
                </a:r>
                <a:r>
                  <a:rPr b="1" lang="en-US" sz="100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Commuter</a:t>
                </a:r>
                <a:r>
                  <a:rPr lang="en-US" sz="100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panels.</a:t>
                </a:r>
                <a:endParaRPr sz="100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138" name="Google Shape;138;g40a0314b14e_0_2629"/>
            <p:cNvGrpSpPr/>
            <p:nvPr/>
          </p:nvGrpSpPr>
          <p:grpSpPr>
            <a:xfrm>
              <a:off x="4972050" y="4762500"/>
              <a:ext cx="3219600" cy="1238400"/>
              <a:chOff x="0" y="0"/>
              <a:chExt cx="3219600" cy="1238400"/>
            </a:xfrm>
          </p:grpSpPr>
          <p:sp>
            <p:nvSpPr>
              <p:cNvPr id="139" name="Google Shape;139;g40a0314b14e_0_2629"/>
              <p:cNvSpPr/>
              <p:nvPr/>
            </p:nvSpPr>
            <p:spPr>
              <a:xfrm>
                <a:off x="0" y="0"/>
                <a:ext cx="3219600" cy="1238400"/>
              </a:xfrm>
              <a:prstGeom prst="roundRect">
                <a:avLst>
                  <a:gd fmla="val 9230" name="adj"/>
                </a:avLst>
              </a:prstGeom>
              <a:solidFill>
                <a:srgbClr val="FFF7ED"/>
              </a:solidFill>
              <a:ln cap="flat" cmpd="sng" w="14300">
                <a:solidFill>
                  <a:srgbClr val="FFED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g40a0314b14e_0_2629"/>
              <p:cNvSpPr/>
              <p:nvPr/>
            </p:nvSpPr>
            <p:spPr>
              <a:xfrm>
                <a:off x="0" y="0"/>
                <a:ext cx="32196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41" name="Google Shape;141;g40a0314b14e_0_2629"/>
              <p:cNvPicPr preferRelativeResize="0"/>
              <p:nvPr/>
            </p:nvPicPr>
            <p:blipFill rotWithShape="1">
              <a:blip r:embed="rId7">
                <a:alphaModFix/>
              </a:blip>
              <a:srcRect b="-3310" l="20" r="20" t="3310"/>
              <a:stretch/>
            </p:blipFill>
            <p:spPr>
              <a:xfrm>
                <a:off x="152400" y="152400"/>
                <a:ext cx="209700" cy="224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2" name="Google Shape;142;g40a0314b14e_0_2629"/>
              <p:cNvSpPr txBox="1"/>
              <p:nvPr/>
            </p:nvSpPr>
            <p:spPr>
              <a:xfrm>
                <a:off x="438150" y="133350"/>
                <a:ext cx="26289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C2410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Transparent DPR Formula</a:t>
                </a:r>
                <a:endParaRPr b="1" sz="1200">
                  <a:solidFill>
                    <a:srgbClr val="C2410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431407"/>
                    </a:solidFill>
                    <a:latin typeface="Plus Jakarta Sans Medium"/>
                    <a:ea typeface="Plus Jakarta Sans Medium"/>
                    <a:cs typeface="Plus Jakarta Sans Medium"/>
                    <a:sym typeface="Plus Jakarta Sans Medium"/>
                  </a:rPr>
                  <a:t>Computes wait-time savings, deadhead costs, delay penalties, and net financial benefit in real time.</a:t>
                </a:r>
                <a:endParaRPr b="0" sz="950">
                  <a:solidFill>
                    <a:srgbClr val="431407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endParaRPr>
              </a:p>
            </p:txBody>
          </p:sp>
        </p:grpSp>
        <p:grpSp>
          <p:nvGrpSpPr>
            <p:cNvPr id="143" name="Google Shape;143;g40a0314b14e_0_2629"/>
            <p:cNvGrpSpPr/>
            <p:nvPr/>
          </p:nvGrpSpPr>
          <p:grpSpPr>
            <a:xfrm>
              <a:off x="8324850" y="4762500"/>
              <a:ext cx="3219600" cy="1238400"/>
              <a:chOff x="0" y="0"/>
              <a:chExt cx="3219600" cy="1238400"/>
            </a:xfrm>
          </p:grpSpPr>
          <p:sp>
            <p:nvSpPr>
              <p:cNvPr id="144" name="Google Shape;144;g40a0314b14e_0_2629"/>
              <p:cNvSpPr/>
              <p:nvPr/>
            </p:nvSpPr>
            <p:spPr>
              <a:xfrm>
                <a:off x="0" y="0"/>
                <a:ext cx="3219600" cy="1238400"/>
              </a:xfrm>
              <a:prstGeom prst="roundRect">
                <a:avLst>
                  <a:gd fmla="val 9230" name="adj"/>
                </a:avLst>
              </a:prstGeom>
              <a:solidFill>
                <a:srgbClr val="FFF7ED"/>
              </a:solidFill>
              <a:ln cap="flat" cmpd="sng" w="14300">
                <a:solidFill>
                  <a:srgbClr val="FFED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g40a0314b14e_0_2629"/>
              <p:cNvSpPr/>
              <p:nvPr/>
            </p:nvSpPr>
            <p:spPr>
              <a:xfrm>
                <a:off x="0" y="0"/>
                <a:ext cx="32196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46" name="Google Shape;146;g40a0314b14e_0_2629"/>
              <p:cNvPicPr preferRelativeResize="0"/>
              <p:nvPr/>
            </p:nvPicPr>
            <p:blipFill rotWithShape="1">
              <a:blip r:embed="rId7">
                <a:alphaModFix/>
              </a:blip>
              <a:srcRect b="-3310" l="20" r="20" t="3310"/>
              <a:stretch/>
            </p:blipFill>
            <p:spPr>
              <a:xfrm>
                <a:off x="152400" y="152400"/>
                <a:ext cx="209700" cy="224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7" name="Google Shape;147;g40a0314b14e_0_2629"/>
              <p:cNvSpPr txBox="1"/>
              <p:nvPr/>
            </p:nvSpPr>
            <p:spPr>
              <a:xfrm>
                <a:off x="438150" y="133350"/>
                <a:ext cx="26289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C2410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Operator-in-Loop Workflow</a:t>
                </a:r>
                <a:endParaRPr b="1" sz="1200">
                  <a:solidFill>
                    <a:srgbClr val="C2410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431407"/>
                    </a:solidFill>
                    <a:latin typeface="Plus Jakarta Sans Medium"/>
                    <a:ea typeface="Plus Jakarta Sans Medium"/>
                    <a:cs typeface="Plus Jakarta Sans Medium"/>
                    <a:sym typeface="Plus Jakarta Sans Medium"/>
                  </a:rPr>
                  <a:t>One-click approval pushes HUD directives with audio cues directly to drivers for rapid execution.</a:t>
                </a:r>
                <a:endParaRPr b="0" sz="950">
                  <a:solidFill>
                    <a:srgbClr val="431407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endParaRPr>
              </a:p>
            </p:txBody>
          </p:sp>
        </p:grpSp>
      </p:grpSp>
      <p:grpSp>
        <p:nvGrpSpPr>
          <p:cNvPr id="148" name="Google Shape;148;g40a0314b14e_0_2629"/>
          <p:cNvGrpSpPr/>
          <p:nvPr/>
        </p:nvGrpSpPr>
        <p:grpSpPr>
          <a:xfrm>
            <a:off x="3714750" y="1333500"/>
            <a:ext cx="571500" cy="538590"/>
            <a:chOff x="0" y="0"/>
            <a:chExt cx="571500" cy="538590"/>
          </a:xfrm>
        </p:grpSpPr>
        <p:sp>
          <p:nvSpPr>
            <p:cNvPr id="149" name="Google Shape;149;g40a0314b14e_0_2629"/>
            <p:cNvSpPr/>
            <p:nvPr/>
          </p:nvSpPr>
          <p:spPr>
            <a:xfrm>
              <a:off x="0" y="0"/>
              <a:ext cx="571500" cy="523800"/>
            </a:xfrm>
            <a:prstGeom prst="roundRect">
              <a:avLst>
                <a:gd fmla="val 21818" name="adj"/>
              </a:avLst>
            </a:prstGeom>
            <a:solidFill>
              <a:srgbClr val="FEE2E2"/>
            </a:solidFill>
            <a:ln cap="flat" cmpd="sng" w="9525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0" name="Google Shape;150;g40a0314b14e_0_2629"/>
            <p:cNvGrpSpPr/>
            <p:nvPr/>
          </p:nvGrpSpPr>
          <p:grpSpPr>
            <a:xfrm>
              <a:off x="95250" y="76200"/>
              <a:ext cx="381000" cy="314325"/>
              <a:chOff x="0" y="0"/>
              <a:chExt cx="381000" cy="314325"/>
            </a:xfrm>
          </p:grpSpPr>
          <p:sp>
            <p:nvSpPr>
              <p:cNvPr id="151" name="Google Shape;151;g40a0314b14e_0_2629"/>
              <p:cNvSpPr/>
              <p:nvPr/>
            </p:nvSpPr>
            <p:spPr>
              <a:xfrm>
                <a:off x="0" y="0"/>
                <a:ext cx="381000" cy="247800"/>
              </a:xfrm>
              <a:prstGeom prst="roundRect">
                <a:avLst>
                  <a:gd fmla="val 19230" name="adj"/>
                </a:avLst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g40a0314b14e_0_2629"/>
              <p:cNvSpPr/>
              <p:nvPr/>
            </p:nvSpPr>
            <p:spPr>
              <a:xfrm>
                <a:off x="38100" y="38100"/>
                <a:ext cx="304800" cy="95400"/>
              </a:xfrm>
              <a:prstGeom prst="roundRect">
                <a:avLst>
                  <a:gd fmla="val 20000" name="adj"/>
                </a:avLst>
              </a:pr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g40a0314b14e_0_2629"/>
              <p:cNvSpPr/>
              <p:nvPr/>
            </p:nvSpPr>
            <p:spPr>
              <a:xfrm>
                <a:off x="38100" y="238125"/>
                <a:ext cx="76200" cy="76200"/>
              </a:xfrm>
              <a:prstGeom prst="ellipse">
                <a:avLst/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g40a0314b14e_0_2629"/>
              <p:cNvSpPr/>
              <p:nvPr/>
            </p:nvSpPr>
            <p:spPr>
              <a:xfrm>
                <a:off x="266700" y="238125"/>
                <a:ext cx="76200" cy="76200"/>
              </a:xfrm>
              <a:prstGeom prst="ellipse">
                <a:avLst/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g40a0314b14e_0_2629"/>
              <p:cNvSpPr/>
              <p:nvPr/>
            </p:nvSpPr>
            <p:spPr>
              <a:xfrm>
                <a:off x="61913" y="261938"/>
                <a:ext cx="28500" cy="285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g40a0314b14e_0_2629"/>
              <p:cNvSpPr/>
              <p:nvPr/>
            </p:nvSpPr>
            <p:spPr>
              <a:xfrm>
                <a:off x="290513" y="261938"/>
                <a:ext cx="28500" cy="285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g40a0314b14e_0_2629"/>
              <p:cNvSpPr/>
              <p:nvPr/>
            </p:nvSpPr>
            <p:spPr>
              <a:xfrm>
                <a:off x="171450" y="152400"/>
                <a:ext cx="381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DC26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g40a0314b14e_0_2629"/>
              <p:cNvSpPr/>
              <p:nvPr/>
            </p:nvSpPr>
            <p:spPr>
              <a:xfrm>
                <a:off x="57150" y="76200"/>
                <a:ext cx="266700" cy="0"/>
              </a:xfrm>
              <a:custGeom>
                <a:rect b="b" l="l" r="r" t="t"/>
                <a:pathLst>
                  <a:path extrusionOk="0" fill="none" h="120000" w="120000">
                    <a:moveTo>
                      <a:pt x="0" y="0"/>
                    </a:moveTo>
                    <a:lnTo>
                      <a:pt x="25714" y="0"/>
                    </a:lnTo>
                    <a:moveTo>
                      <a:pt x="42857" y="0"/>
                    </a:moveTo>
                    <a:lnTo>
                      <a:pt x="77143" y="0"/>
                    </a:lnTo>
                    <a:moveTo>
                      <a:pt x="94286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FFFFFF"/>
              </a:solidFill>
              <a:ln cap="rnd" cmpd="sng" w="14300">
                <a:solidFill>
                  <a:srgbClr val="991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9" name="Google Shape;159;g40a0314b14e_0_2629"/>
            <p:cNvSpPr txBox="1"/>
            <p:nvPr/>
          </p:nvSpPr>
          <p:spPr>
            <a:xfrm>
              <a:off x="144475" y="415290"/>
              <a:ext cx="282600" cy="12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555">
                  <a:solidFill>
                    <a:srgbClr val="DC2626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BUS-9X</a:t>
              </a:r>
              <a:endParaRPr b="0" sz="555">
                <a:solidFill>
                  <a:srgbClr val="DC262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</p:txBody>
        </p:sp>
      </p:grpSp>
      <p:grpSp>
        <p:nvGrpSpPr>
          <p:cNvPr id="160" name="Google Shape;160;g40a0314b14e_0_2629"/>
          <p:cNvGrpSpPr/>
          <p:nvPr/>
        </p:nvGrpSpPr>
        <p:grpSpPr>
          <a:xfrm>
            <a:off x="3762375" y="2190750"/>
            <a:ext cx="428625" cy="419100"/>
            <a:chOff x="0" y="0"/>
            <a:chExt cx="428625" cy="419100"/>
          </a:xfrm>
        </p:grpSpPr>
        <p:sp>
          <p:nvSpPr>
            <p:cNvPr id="161" name="Google Shape;161;g40a0314b14e_0_2629"/>
            <p:cNvSpPr/>
            <p:nvPr/>
          </p:nvSpPr>
          <p:spPr>
            <a:xfrm>
              <a:off x="0" y="0"/>
              <a:ext cx="419100" cy="419100"/>
            </a:xfrm>
            <a:prstGeom prst="ellipse">
              <a:avLst/>
            </a:prstGeom>
            <a:solidFill>
              <a:srgbClr val="FEF2F2"/>
            </a:solidFill>
            <a:ln cap="flat" cmpd="sng" w="14300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2" name="Google Shape;162;g40a0314b14e_0_2629"/>
            <p:cNvGrpSpPr/>
            <p:nvPr/>
          </p:nvGrpSpPr>
          <p:grpSpPr>
            <a:xfrm>
              <a:off x="66675" y="85725"/>
              <a:ext cx="285900" cy="238275"/>
              <a:chOff x="0" y="0"/>
              <a:chExt cx="285900" cy="238275"/>
            </a:xfrm>
          </p:grpSpPr>
          <p:sp>
            <p:nvSpPr>
              <p:cNvPr id="163" name="Google Shape;163;g40a0314b14e_0_2629"/>
              <p:cNvSpPr/>
              <p:nvPr/>
            </p:nvSpPr>
            <p:spPr>
              <a:xfrm>
                <a:off x="0" y="0"/>
                <a:ext cx="285900" cy="190500"/>
              </a:xfrm>
              <a:prstGeom prst="roundRect">
                <a:avLst>
                  <a:gd fmla="val 20000" name="adj"/>
                </a:avLst>
              </a:prstGeom>
              <a:solidFill>
                <a:srgbClr val="DC26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g40a0314b14e_0_2629"/>
              <p:cNvSpPr/>
              <p:nvPr/>
            </p:nvSpPr>
            <p:spPr>
              <a:xfrm>
                <a:off x="28575" y="28575"/>
                <a:ext cx="228600" cy="76200"/>
              </a:xfrm>
              <a:prstGeom prst="roundRect">
                <a:avLst>
                  <a:gd fmla="val 18750" name="adj"/>
                </a:avLst>
              </a:prstGeom>
              <a:solidFill>
                <a:srgbClr val="FEF2F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g40a0314b14e_0_2629"/>
              <p:cNvSpPr/>
              <p:nvPr/>
            </p:nvSpPr>
            <p:spPr>
              <a:xfrm>
                <a:off x="28575" y="180975"/>
                <a:ext cx="57300" cy="57300"/>
              </a:xfrm>
              <a:prstGeom prst="ellipse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g40a0314b14e_0_2629"/>
              <p:cNvSpPr/>
              <p:nvPr/>
            </p:nvSpPr>
            <p:spPr>
              <a:xfrm>
                <a:off x="200025" y="180975"/>
                <a:ext cx="57300" cy="57300"/>
              </a:xfrm>
              <a:prstGeom prst="ellipse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g40a0314b14e_0_2629"/>
              <p:cNvSpPr/>
              <p:nvPr/>
            </p:nvSpPr>
            <p:spPr>
              <a:xfrm>
                <a:off x="47625" y="47625"/>
                <a:ext cx="219000" cy="0"/>
              </a:xfrm>
              <a:custGeom>
                <a:rect b="b" l="l" r="r" t="t"/>
                <a:pathLst>
                  <a:path extrusionOk="0" fill="none" h="120000" w="120000">
                    <a:moveTo>
                      <a:pt x="0" y="0"/>
                    </a:moveTo>
                    <a:lnTo>
                      <a:pt x="26087" y="0"/>
                    </a:lnTo>
                    <a:moveTo>
                      <a:pt x="46957" y="0"/>
                    </a:moveTo>
                    <a:lnTo>
                      <a:pt x="73043" y="0"/>
                    </a:lnTo>
                    <a:moveTo>
                      <a:pt x="93913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EF444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8" name="Google Shape;168;g40a0314b14e_0_2629"/>
            <p:cNvSpPr/>
            <p:nvPr/>
          </p:nvSpPr>
          <p:spPr>
            <a:xfrm>
              <a:off x="314325" y="47625"/>
              <a:ext cx="76200" cy="762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120000"/>
                  </a:lnTo>
                  <a:moveTo>
                    <a:pt x="12000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DC26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g40a0314b14e_0_2629"/>
            <p:cNvSpPr/>
            <p:nvPr/>
          </p:nvSpPr>
          <p:spPr>
            <a:xfrm>
              <a:off x="276225" y="9525"/>
              <a:ext cx="152400" cy="152400"/>
            </a:xfrm>
            <a:prstGeom prst="ellipse">
              <a:avLst/>
            </a:prstGeom>
            <a:solidFill>
              <a:srgbClr val="DC2626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0" name="Google Shape;170;g40a0314b14e_0_2629"/>
          <p:cNvGrpSpPr/>
          <p:nvPr/>
        </p:nvGrpSpPr>
        <p:grpSpPr>
          <a:xfrm>
            <a:off x="3762375" y="4048125"/>
            <a:ext cx="428625" cy="419100"/>
            <a:chOff x="0" y="0"/>
            <a:chExt cx="428625" cy="419100"/>
          </a:xfrm>
        </p:grpSpPr>
        <p:sp>
          <p:nvSpPr>
            <p:cNvPr id="171" name="Google Shape;171;g40a0314b14e_0_2629"/>
            <p:cNvSpPr/>
            <p:nvPr/>
          </p:nvSpPr>
          <p:spPr>
            <a:xfrm>
              <a:off x="0" y="0"/>
              <a:ext cx="419100" cy="419100"/>
            </a:xfrm>
            <a:prstGeom prst="ellipse">
              <a:avLst/>
            </a:prstGeom>
            <a:solidFill>
              <a:srgbClr val="F0FDF4"/>
            </a:solidFill>
            <a:ln cap="flat" cmpd="sng" w="14300">
              <a:solidFill>
                <a:srgbClr val="86EF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2" name="Google Shape;172;g40a0314b14e_0_2629"/>
            <p:cNvGrpSpPr/>
            <p:nvPr/>
          </p:nvGrpSpPr>
          <p:grpSpPr>
            <a:xfrm>
              <a:off x="66675" y="85725"/>
              <a:ext cx="285900" cy="238275"/>
              <a:chOff x="0" y="0"/>
              <a:chExt cx="285900" cy="238275"/>
            </a:xfrm>
          </p:grpSpPr>
          <p:sp>
            <p:nvSpPr>
              <p:cNvPr id="173" name="Google Shape;173;g40a0314b14e_0_2629"/>
              <p:cNvSpPr/>
              <p:nvPr/>
            </p:nvSpPr>
            <p:spPr>
              <a:xfrm>
                <a:off x="0" y="0"/>
                <a:ext cx="285900" cy="190500"/>
              </a:xfrm>
              <a:prstGeom prst="roundRect">
                <a:avLst>
                  <a:gd fmla="val 20000" name="adj"/>
                </a:avLst>
              </a:prstGeom>
              <a:solidFill>
                <a:srgbClr val="16A3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g40a0314b14e_0_2629"/>
              <p:cNvSpPr/>
              <p:nvPr/>
            </p:nvSpPr>
            <p:spPr>
              <a:xfrm>
                <a:off x="28575" y="28575"/>
                <a:ext cx="228600" cy="76200"/>
              </a:xfrm>
              <a:prstGeom prst="roundRect">
                <a:avLst>
                  <a:gd fmla="val 18750" name="adj"/>
                </a:avLst>
              </a:prstGeom>
              <a:solidFill>
                <a:srgbClr val="DCFCE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g40a0314b14e_0_2629"/>
              <p:cNvSpPr/>
              <p:nvPr/>
            </p:nvSpPr>
            <p:spPr>
              <a:xfrm>
                <a:off x="28575" y="180975"/>
                <a:ext cx="57300" cy="57300"/>
              </a:xfrm>
              <a:prstGeom prst="ellipse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g40a0314b14e_0_2629"/>
              <p:cNvSpPr/>
              <p:nvPr/>
            </p:nvSpPr>
            <p:spPr>
              <a:xfrm>
                <a:off x="200025" y="180975"/>
                <a:ext cx="57300" cy="57300"/>
              </a:xfrm>
              <a:prstGeom prst="ellipse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g40a0314b14e_0_2629"/>
              <p:cNvSpPr/>
              <p:nvPr/>
            </p:nvSpPr>
            <p:spPr>
              <a:xfrm>
                <a:off x="47625" y="47625"/>
                <a:ext cx="219000" cy="0"/>
              </a:xfrm>
              <a:custGeom>
                <a:rect b="b" l="l" r="r" t="t"/>
                <a:pathLst>
                  <a:path extrusionOk="0" fill="none" h="120000" w="120000">
                    <a:moveTo>
                      <a:pt x="0" y="0"/>
                    </a:moveTo>
                    <a:lnTo>
                      <a:pt x="26087" y="0"/>
                    </a:lnTo>
                    <a:moveTo>
                      <a:pt x="46957" y="0"/>
                    </a:moveTo>
                    <a:lnTo>
                      <a:pt x="73043" y="0"/>
                    </a:lnTo>
                    <a:moveTo>
                      <a:pt x="93913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22C55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8" name="Google Shape;178;g40a0314b14e_0_2629"/>
            <p:cNvSpPr/>
            <p:nvPr/>
          </p:nvSpPr>
          <p:spPr>
            <a:xfrm>
              <a:off x="295275" y="47625"/>
              <a:ext cx="114300" cy="76200"/>
            </a:xfrm>
            <a:custGeom>
              <a:rect b="b" l="l" r="r" t="t"/>
              <a:pathLst>
                <a:path extrusionOk="0" fill="none" h="120000" w="120000">
                  <a:moveTo>
                    <a:pt x="0" y="60000"/>
                  </a:moveTo>
                  <a:lnTo>
                    <a:pt x="40000" y="120000"/>
                  </a:lnTo>
                  <a:lnTo>
                    <a:pt x="120000" y="0"/>
                  </a:ln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g40a0314b14e_0_2629"/>
            <p:cNvSpPr/>
            <p:nvPr/>
          </p:nvSpPr>
          <p:spPr>
            <a:xfrm>
              <a:off x="276225" y="9525"/>
              <a:ext cx="152400" cy="152400"/>
            </a:xfrm>
            <a:prstGeom prst="ellipse">
              <a:avLst/>
            </a:prstGeom>
            <a:solidFill>
              <a:srgbClr val="16A34A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" name="Google Shape;180;g40a0314b14e_0_2629"/>
          <p:cNvGrpSpPr/>
          <p:nvPr/>
        </p:nvGrpSpPr>
        <p:grpSpPr>
          <a:xfrm>
            <a:off x="4819650" y="2076450"/>
            <a:ext cx="552450" cy="271388"/>
            <a:chOff x="-247650" y="0"/>
            <a:chExt cx="552450" cy="271388"/>
          </a:xfrm>
        </p:grpSpPr>
        <p:pic>
          <p:nvPicPr>
            <p:cNvPr id="181" name="Google Shape;181;g40a0314b14e_0_262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-247650" y="57150"/>
              <a:ext cx="238200" cy="13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g40a0314b14e_0_2629"/>
            <p:cNvSpPr/>
            <p:nvPr/>
          </p:nvSpPr>
          <p:spPr>
            <a:xfrm>
              <a:off x="0" y="0"/>
              <a:ext cx="304800" cy="228600"/>
            </a:xfrm>
            <a:prstGeom prst="roundRect">
              <a:avLst>
                <a:gd fmla="val 20833" name="adj"/>
              </a:avLst>
            </a:prstGeom>
            <a:solidFill>
              <a:srgbClr val="FEF0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g40a0314b14e_0_2629"/>
            <p:cNvSpPr/>
            <p:nvPr/>
          </p:nvSpPr>
          <p:spPr>
            <a:xfrm>
              <a:off x="171450" y="28575"/>
              <a:ext cx="104700" cy="95400"/>
            </a:xfrm>
            <a:prstGeom prst="roundRect">
              <a:avLst>
                <a:gd fmla="val 20000" name="adj"/>
              </a:avLst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g40a0314b14e_0_2629"/>
            <p:cNvSpPr/>
            <p:nvPr/>
          </p:nvSpPr>
          <p:spPr>
            <a:xfrm>
              <a:off x="28575" y="28575"/>
              <a:ext cx="114300" cy="95400"/>
            </a:xfrm>
            <a:prstGeom prst="roundRect">
              <a:avLst>
                <a:gd fmla="val 20000" name="adj"/>
              </a:avLst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g40a0314b14e_0_2629"/>
            <p:cNvSpPr/>
            <p:nvPr/>
          </p:nvSpPr>
          <p:spPr>
            <a:xfrm>
              <a:off x="33338" y="204788"/>
              <a:ext cx="66600" cy="66600"/>
            </a:xfrm>
            <a:prstGeom prst="ellipse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g40a0314b14e_0_2629"/>
            <p:cNvSpPr/>
            <p:nvPr/>
          </p:nvSpPr>
          <p:spPr>
            <a:xfrm>
              <a:off x="204788" y="204788"/>
              <a:ext cx="66600" cy="66600"/>
            </a:xfrm>
            <a:prstGeom prst="ellipse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g40a0314b14e_0_2629"/>
            <p:cNvSpPr/>
            <p:nvPr/>
          </p:nvSpPr>
          <p:spPr>
            <a:xfrm>
              <a:off x="52388" y="223838"/>
              <a:ext cx="28500" cy="28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g40a0314b14e_0_2629"/>
            <p:cNvSpPr/>
            <p:nvPr/>
          </p:nvSpPr>
          <p:spPr>
            <a:xfrm>
              <a:off x="223838" y="223838"/>
              <a:ext cx="28500" cy="28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g40a0314b14e_0_2629"/>
            <p:cNvSpPr/>
            <p:nvPr/>
          </p:nvSpPr>
          <p:spPr>
            <a:xfrm>
              <a:off x="95250" y="123825"/>
              <a:ext cx="57300" cy="57300"/>
            </a:xfrm>
            <a:custGeom>
              <a:rect b="b" l="l" r="r" t="t"/>
              <a:pathLst>
                <a:path extrusionOk="0" fill="none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60000" y="0"/>
                  </a:moveTo>
                  <a:lnTo>
                    <a:pt x="60000" y="120000"/>
                  </a:lnTo>
                </a:path>
              </a:pathLst>
            </a:custGeom>
            <a:solidFill>
              <a:srgbClr val="FFFFFF"/>
            </a:solidFill>
            <a:ln cap="rnd" cmpd="sng" w="14300">
              <a:solidFill>
                <a:srgbClr val="1E40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0" name="Google Shape;190;g40a0314b14e_0_2629"/>
          <p:cNvGrpSpPr/>
          <p:nvPr/>
        </p:nvGrpSpPr>
        <p:grpSpPr>
          <a:xfrm>
            <a:off x="4171950" y="3176588"/>
            <a:ext cx="590550" cy="347738"/>
            <a:chOff x="0" y="-14287"/>
            <a:chExt cx="590550" cy="347738"/>
          </a:xfrm>
        </p:grpSpPr>
        <p:pic>
          <p:nvPicPr>
            <p:cNvPr id="191" name="Google Shape;191;g40a0314b14e_0_262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0" y="-14287"/>
              <a:ext cx="561900" cy="3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" name="Google Shape;192;g40a0314b14e_0_2629"/>
            <p:cNvSpPr/>
            <p:nvPr/>
          </p:nvSpPr>
          <p:spPr>
            <a:xfrm>
              <a:off x="514350" y="247650"/>
              <a:ext cx="76200" cy="85800"/>
            </a:xfrm>
            <a:custGeom>
              <a:rect b="b" l="l" r="r" t="t"/>
              <a:pathLst>
                <a:path extrusionOk="0" h="120000" w="120000">
                  <a:moveTo>
                    <a:pt x="120000" y="93333"/>
                  </a:moveTo>
                  <a:lnTo>
                    <a:pt x="0" y="0"/>
                  </a:lnTo>
                  <a:lnTo>
                    <a:pt x="3000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Your startup LOGO" id="193" name="Google Shape;193;g40a0314b14e_0_2629"/>
          <p:cNvSpPr/>
          <p:nvPr/>
        </p:nvSpPr>
        <p:spPr>
          <a:xfrm>
            <a:off x="329775" y="252250"/>
            <a:ext cx="14412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 Wizards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4" name="Google Shape;194;g40a0314b14e_0_2629"/>
          <p:cNvGrpSpPr/>
          <p:nvPr/>
        </p:nvGrpSpPr>
        <p:grpSpPr>
          <a:xfrm>
            <a:off x="838200" y="3162300"/>
            <a:ext cx="3333900" cy="457200"/>
            <a:chOff x="0" y="0"/>
            <a:chExt cx="3333900" cy="457200"/>
          </a:xfrm>
        </p:grpSpPr>
        <p:sp>
          <p:nvSpPr>
            <p:cNvPr id="195" name="Google Shape;195;g40a0314b14e_0_2629"/>
            <p:cNvSpPr/>
            <p:nvPr/>
          </p:nvSpPr>
          <p:spPr>
            <a:xfrm>
              <a:off x="0" y="0"/>
              <a:ext cx="3333900" cy="457200"/>
            </a:xfrm>
            <a:prstGeom prst="roundRect">
              <a:avLst>
                <a:gd fmla="val 16666" name="adj"/>
              </a:avLst>
            </a:prstGeom>
            <a:solidFill>
              <a:srgbClr val="FEF2F2"/>
            </a:solidFill>
            <a:ln cap="flat" cmpd="sng" w="9525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g40a0314b14e_0_2629"/>
            <p:cNvSpPr/>
            <p:nvPr/>
          </p:nvSpPr>
          <p:spPr>
            <a:xfrm>
              <a:off x="95250" y="95250"/>
              <a:ext cx="762000" cy="266700"/>
            </a:xfrm>
            <a:prstGeom prst="roundRect">
              <a:avLst>
                <a:gd fmla="val 17857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g40a0314b14e_0_2629"/>
            <p:cNvSpPr/>
            <p:nvPr/>
          </p:nvSpPr>
          <p:spPr>
            <a:xfrm>
              <a:off x="142875" y="133350"/>
              <a:ext cx="152400" cy="95400"/>
            </a:xfrm>
            <a:prstGeom prst="roundRect">
              <a:avLst>
                <a:gd fmla="val 20000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g40a0314b14e_0_2629"/>
            <p:cNvSpPr/>
            <p:nvPr/>
          </p:nvSpPr>
          <p:spPr>
            <a:xfrm>
              <a:off x="333375" y="133350"/>
              <a:ext cx="152400" cy="95400"/>
            </a:xfrm>
            <a:prstGeom prst="roundRect">
              <a:avLst>
                <a:gd fmla="val 20000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g40a0314b14e_0_2629"/>
            <p:cNvSpPr/>
            <p:nvPr/>
          </p:nvSpPr>
          <p:spPr>
            <a:xfrm>
              <a:off x="523875" y="133350"/>
              <a:ext cx="152400" cy="95400"/>
            </a:xfrm>
            <a:prstGeom prst="roundRect">
              <a:avLst>
                <a:gd fmla="val 20000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g40a0314b14e_0_2629"/>
            <p:cNvSpPr/>
            <p:nvPr/>
          </p:nvSpPr>
          <p:spPr>
            <a:xfrm>
              <a:off x="209550" y="323850"/>
              <a:ext cx="76200" cy="76200"/>
            </a:xfrm>
            <a:prstGeom prst="ellipse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g40a0314b14e_0_2629"/>
            <p:cNvSpPr/>
            <p:nvPr/>
          </p:nvSpPr>
          <p:spPr>
            <a:xfrm>
              <a:off x="666750" y="323850"/>
              <a:ext cx="76200" cy="76200"/>
            </a:xfrm>
            <a:prstGeom prst="ellipse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g40a0314b14e_0_2629"/>
            <p:cNvSpPr txBox="1"/>
            <p:nvPr/>
          </p:nvSpPr>
          <p:spPr>
            <a:xfrm>
              <a:off x="952500" y="58547"/>
              <a:ext cx="2286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85">
                  <a:solidFill>
                    <a:srgbClr val="DC262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 person person person person person person person person person</a:t>
              </a:r>
              <a:endParaRPr sz="1085">
                <a:solidFill>
                  <a:srgbClr val="DC262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3" name="Google Shape;203;g40a0314b14e_0_2629"/>
            <p:cNvSpPr/>
            <p:nvPr/>
          </p:nvSpPr>
          <p:spPr>
            <a:xfrm>
              <a:off x="952500" y="266700"/>
              <a:ext cx="2190900" cy="95400"/>
            </a:xfrm>
            <a:prstGeom prst="roundRect">
              <a:avLst>
                <a:gd fmla="val 50000" name="adj"/>
              </a:avLst>
            </a:prstGeom>
            <a:solidFill>
              <a:srgbClr val="FCA5A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g40a0314b14e_0_2629"/>
            <p:cNvSpPr/>
            <p:nvPr/>
          </p:nvSpPr>
          <p:spPr>
            <a:xfrm>
              <a:off x="952500" y="266700"/>
              <a:ext cx="2015400" cy="95400"/>
            </a:xfrm>
            <a:prstGeom prst="roundRect">
              <a:avLst>
                <a:gd fmla="val 50000" name="adj"/>
              </a:avLst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" name="Google Shape;205;g40a0314b14e_0_2629"/>
          <p:cNvGrpSpPr/>
          <p:nvPr/>
        </p:nvGrpSpPr>
        <p:grpSpPr>
          <a:xfrm>
            <a:off x="838200" y="5019675"/>
            <a:ext cx="3333900" cy="457200"/>
            <a:chOff x="0" y="0"/>
            <a:chExt cx="3333900" cy="457200"/>
          </a:xfrm>
        </p:grpSpPr>
        <p:sp>
          <p:nvSpPr>
            <p:cNvPr id="206" name="Google Shape;206;g40a0314b14e_0_2629"/>
            <p:cNvSpPr/>
            <p:nvPr/>
          </p:nvSpPr>
          <p:spPr>
            <a:xfrm>
              <a:off x="0" y="0"/>
              <a:ext cx="3333900" cy="457200"/>
            </a:xfrm>
            <a:prstGeom prst="roundRect">
              <a:avLst>
                <a:gd fmla="val 16666" name="adj"/>
              </a:avLst>
            </a:prstGeom>
            <a:solidFill>
              <a:srgbClr val="F0FDF4"/>
            </a:solidFill>
            <a:ln cap="flat" cmpd="sng" w="9525">
              <a:solidFill>
                <a:srgbClr val="86EF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g40a0314b14e_0_2629"/>
            <p:cNvSpPr/>
            <p:nvPr/>
          </p:nvSpPr>
          <p:spPr>
            <a:xfrm>
              <a:off x="95250" y="95250"/>
              <a:ext cx="762000" cy="266700"/>
            </a:xfrm>
            <a:prstGeom prst="roundRect">
              <a:avLst>
                <a:gd fmla="val 17857" name="adj"/>
              </a:avLst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g40a0314b14e_0_2629"/>
            <p:cNvSpPr/>
            <p:nvPr/>
          </p:nvSpPr>
          <p:spPr>
            <a:xfrm>
              <a:off x="142875" y="133350"/>
              <a:ext cx="152400" cy="95400"/>
            </a:xfrm>
            <a:prstGeom prst="roundRect">
              <a:avLst>
                <a:gd fmla="val 20000" name="adj"/>
              </a:avLst>
            </a:prstGeom>
            <a:solidFill>
              <a:srgbClr val="DCFC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g40a0314b14e_0_2629"/>
            <p:cNvSpPr/>
            <p:nvPr/>
          </p:nvSpPr>
          <p:spPr>
            <a:xfrm>
              <a:off x="333375" y="133350"/>
              <a:ext cx="152400" cy="95400"/>
            </a:xfrm>
            <a:prstGeom prst="roundRect">
              <a:avLst>
                <a:gd fmla="val 20000" name="adj"/>
              </a:avLst>
            </a:prstGeom>
            <a:solidFill>
              <a:srgbClr val="DCFC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g40a0314b14e_0_2629"/>
            <p:cNvSpPr/>
            <p:nvPr/>
          </p:nvSpPr>
          <p:spPr>
            <a:xfrm>
              <a:off x="523875" y="133350"/>
              <a:ext cx="152400" cy="95400"/>
            </a:xfrm>
            <a:prstGeom prst="roundRect">
              <a:avLst>
                <a:gd fmla="val 20000" name="adj"/>
              </a:avLst>
            </a:prstGeom>
            <a:solidFill>
              <a:srgbClr val="DCFC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g40a0314b14e_0_2629"/>
            <p:cNvSpPr/>
            <p:nvPr/>
          </p:nvSpPr>
          <p:spPr>
            <a:xfrm>
              <a:off x="209550" y="323850"/>
              <a:ext cx="76200" cy="76200"/>
            </a:xfrm>
            <a:prstGeom prst="ellipse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g40a0314b14e_0_2629"/>
            <p:cNvSpPr/>
            <p:nvPr/>
          </p:nvSpPr>
          <p:spPr>
            <a:xfrm>
              <a:off x="666750" y="323850"/>
              <a:ext cx="76200" cy="76200"/>
            </a:xfrm>
            <a:prstGeom prst="ellipse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g40a0314b14e_0_2629"/>
            <p:cNvSpPr txBox="1"/>
            <p:nvPr/>
          </p:nvSpPr>
          <p:spPr>
            <a:xfrm>
              <a:off x="952500" y="58547"/>
              <a:ext cx="2286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5">
                  <a:solidFill>
                    <a:srgbClr val="16A34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 person </a:t>
              </a:r>
              <a:r>
                <a:rPr lang="en-US" sz="455">
                  <a:solidFill>
                    <a:srgbClr val="CBD5E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event_seat event_seat event_seat event_seat</a:t>
              </a:r>
              <a:endParaRPr sz="455">
                <a:solidFill>
                  <a:srgbClr val="16A34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4" name="Google Shape;214;g40a0314b14e_0_2629"/>
            <p:cNvSpPr/>
            <p:nvPr/>
          </p:nvSpPr>
          <p:spPr>
            <a:xfrm>
              <a:off x="952500" y="266700"/>
              <a:ext cx="2190900" cy="95400"/>
            </a:xfrm>
            <a:prstGeom prst="roundRect">
              <a:avLst>
                <a:gd fmla="val 50000" name="adj"/>
              </a:avLst>
            </a:prstGeom>
            <a:solidFill>
              <a:srgbClr val="BBF7D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g40a0314b14e_0_2629"/>
            <p:cNvSpPr/>
            <p:nvPr/>
          </p:nvSpPr>
          <p:spPr>
            <a:xfrm>
              <a:off x="952500" y="266700"/>
              <a:ext cx="525900" cy="95400"/>
            </a:xfrm>
            <a:prstGeom prst="roundRect">
              <a:avLst>
                <a:gd fmla="val 50000" name="adj"/>
              </a:avLst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409fd4ada4e_9_112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409fd4ada4e_9_112"/>
          <p:cNvSpPr txBox="1"/>
          <p:nvPr>
            <p:ph type="title"/>
          </p:nvPr>
        </p:nvSpPr>
        <p:spPr>
          <a:xfrm>
            <a:off x="2000250" y="190500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TECHNICAL APPROACH</a:t>
            </a:r>
            <a:endParaRPr b="1" sz="28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3" name="Google Shape;223;g409fd4ada4e_9_112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24" name="Google Shape;224;g409fd4ada4e_9_112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25" name="Google Shape;225;g409fd4ada4e_9_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g409fd4ada4e_9_112"/>
          <p:cNvGrpSpPr/>
          <p:nvPr/>
        </p:nvGrpSpPr>
        <p:grpSpPr>
          <a:xfrm>
            <a:off x="457200" y="1000125"/>
            <a:ext cx="4819800" cy="4286400"/>
            <a:chOff x="0" y="0"/>
            <a:chExt cx="4819800" cy="4286400"/>
          </a:xfrm>
        </p:grpSpPr>
        <p:sp>
          <p:nvSpPr>
            <p:cNvPr id="227" name="Google Shape;227;g409fd4ada4e_9_112"/>
            <p:cNvSpPr/>
            <p:nvPr/>
          </p:nvSpPr>
          <p:spPr>
            <a:xfrm>
              <a:off x="0" y="0"/>
              <a:ext cx="2095500" cy="324000"/>
            </a:xfrm>
            <a:prstGeom prst="roundRect">
              <a:avLst>
                <a:gd fmla="val 50000" name="adj"/>
              </a:avLst>
            </a:prstGeom>
            <a:solidFill>
              <a:srgbClr val="0284C7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g409fd4ada4e_9_112"/>
            <p:cNvSpPr txBox="1"/>
            <p:nvPr/>
          </p:nvSpPr>
          <p:spPr>
            <a:xfrm>
              <a:off x="0" y="0"/>
              <a:ext cx="47625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3335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284C7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⚡ Technologies Used</a:t>
              </a:r>
              <a:endParaRPr b="1" sz="1500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grpSp>
          <p:nvGrpSpPr>
            <p:cNvPr id="229" name="Google Shape;229;g409fd4ada4e_9_112"/>
            <p:cNvGrpSpPr/>
            <p:nvPr/>
          </p:nvGrpSpPr>
          <p:grpSpPr>
            <a:xfrm>
              <a:off x="0" y="457200"/>
              <a:ext cx="4819800" cy="1200300"/>
              <a:chOff x="0" y="0"/>
              <a:chExt cx="4819800" cy="1200300"/>
            </a:xfrm>
          </p:grpSpPr>
          <p:sp>
            <p:nvSpPr>
              <p:cNvPr id="230" name="Google Shape;230;g409fd4ada4e_9_112"/>
              <p:cNvSpPr/>
              <p:nvPr/>
            </p:nvSpPr>
            <p:spPr>
              <a:xfrm>
                <a:off x="0" y="0"/>
                <a:ext cx="4819800" cy="1200300"/>
              </a:xfrm>
              <a:prstGeom prst="roundRect">
                <a:avLst>
                  <a:gd fmla="val 12698" name="adj"/>
                </a:avLst>
              </a:prstGeom>
              <a:gradFill>
                <a:gsLst>
                  <a:gs pos="0">
                    <a:srgbClr val="F0F9FF"/>
                  </a:gs>
                  <a:gs pos="100000">
                    <a:srgbClr val="E0F2FE"/>
                  </a:gs>
                </a:gsLst>
                <a:lin ang="2700000" scaled="0"/>
              </a:gradFill>
              <a:ln cap="flat" cmpd="sng" w="14300">
                <a:solidFill>
                  <a:srgbClr val="38BD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g409fd4ada4e_9_112"/>
              <p:cNvSpPr/>
              <p:nvPr/>
            </p:nvSpPr>
            <p:spPr>
              <a:xfrm>
                <a:off x="0" y="0"/>
                <a:ext cx="76200" cy="1200300"/>
              </a:xfrm>
              <a:prstGeom prst="roundRect">
                <a:avLst>
                  <a:gd fmla="val 50000" name="adj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g409fd4ada4e_9_112"/>
              <p:cNvSpPr/>
              <p:nvPr/>
            </p:nvSpPr>
            <p:spPr>
              <a:xfrm>
                <a:off x="190500" y="190500"/>
                <a:ext cx="419100" cy="419100"/>
              </a:xfrm>
              <a:prstGeom prst="ellipse">
                <a:avLst/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g409fd4ada4e_9_112"/>
              <p:cNvSpPr txBox="1"/>
              <p:nvPr/>
            </p:nvSpPr>
            <p:spPr>
              <a:xfrm>
                <a:off x="190500" y="219710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code</a:t>
                </a:r>
                <a:endParaRPr sz="20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34" name="Google Shape;234;g409fd4ada4e_9_112"/>
              <p:cNvSpPr txBox="1"/>
              <p:nvPr/>
            </p:nvSpPr>
            <p:spPr>
              <a:xfrm>
                <a:off x="723900" y="114300"/>
                <a:ext cx="3943200" cy="9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0284C7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FRONTEND &amp; FRAMEWORK ARCHITECTURE</a:t>
                </a:r>
                <a:endParaRPr b="0" sz="900">
                  <a:solidFill>
                    <a:srgbClr val="0284C7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284C7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•</a:t>
                </a:r>
                <a:r>
                  <a:rPr b="1" lang="en-US" sz="105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React 19 App </a:t>
                </a:r>
                <a:r>
                  <a:rPr b="1" lang="en-US" sz="1050">
                    <a:solidFill>
                      <a:srgbClr val="0284C7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•</a:t>
                </a:r>
                <a:r>
                  <a:rPr b="1" lang="en-US" sz="105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Next.js 16 App Router</a:t>
                </a:r>
                <a:endParaRPr b="1" sz="10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284C7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•</a:t>
                </a:r>
                <a:r>
                  <a:rPr b="1" lang="en-US" sz="105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TypeScript Systems </a:t>
                </a:r>
                <a:r>
                  <a:rPr b="1" lang="en-US" sz="1050">
                    <a:solidFill>
                      <a:srgbClr val="0284C7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•</a:t>
                </a:r>
                <a:r>
                  <a:rPr b="1" lang="en-US" sz="105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Tailwind CSS Styling</a:t>
                </a:r>
                <a:endParaRPr b="1" sz="10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850">
                    <a:solidFill>
                      <a:srgbClr val="0369A1"/>
                    </a:solidFill>
                    <a:latin typeface="Plus Jakarta Sans SemiBold"/>
                    <a:ea typeface="Plus Jakarta Sans SemiBold"/>
                    <a:cs typeface="Plus Jakarta Sans SemiBold"/>
                    <a:sym typeface="Plus Jakarta Sans SemiBold"/>
                  </a:rPr>
                  <a:t>⚡ High-performance SSR with reactive client-side state</a:t>
                </a:r>
                <a:endParaRPr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235" name="Google Shape;235;g409fd4ada4e_9_112"/>
            <p:cNvGrpSpPr/>
            <p:nvPr/>
          </p:nvGrpSpPr>
          <p:grpSpPr>
            <a:xfrm>
              <a:off x="0" y="1771650"/>
              <a:ext cx="4819800" cy="1200300"/>
              <a:chOff x="0" y="0"/>
              <a:chExt cx="4819800" cy="1200300"/>
            </a:xfrm>
          </p:grpSpPr>
          <p:sp>
            <p:nvSpPr>
              <p:cNvPr id="236" name="Google Shape;236;g409fd4ada4e_9_112"/>
              <p:cNvSpPr/>
              <p:nvPr/>
            </p:nvSpPr>
            <p:spPr>
              <a:xfrm>
                <a:off x="0" y="0"/>
                <a:ext cx="4819800" cy="1200300"/>
              </a:xfrm>
              <a:prstGeom prst="roundRect">
                <a:avLst>
                  <a:gd fmla="val 12698" name="adj"/>
                </a:avLst>
              </a:prstGeom>
              <a:gradFill>
                <a:gsLst>
                  <a:gs pos="0">
                    <a:srgbClr val="EFF6FF"/>
                  </a:gs>
                  <a:gs pos="100000">
                    <a:srgbClr val="DBEAFE"/>
                  </a:gs>
                </a:gsLst>
                <a:lin ang="2700000" scaled="0"/>
              </a:gradFill>
              <a:ln cap="flat" cmpd="sng" w="14300">
                <a:solidFill>
                  <a:srgbClr val="60A5F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g409fd4ada4e_9_112"/>
              <p:cNvSpPr/>
              <p:nvPr/>
            </p:nvSpPr>
            <p:spPr>
              <a:xfrm>
                <a:off x="0" y="0"/>
                <a:ext cx="76200" cy="12003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g409fd4ada4e_9_112"/>
              <p:cNvSpPr/>
              <p:nvPr/>
            </p:nvSpPr>
            <p:spPr>
              <a:xfrm>
                <a:off x="190500" y="190500"/>
                <a:ext cx="419100" cy="4191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g409fd4ada4e_9_112"/>
              <p:cNvSpPr txBox="1"/>
              <p:nvPr/>
            </p:nvSpPr>
            <p:spPr>
              <a:xfrm>
                <a:off x="190500" y="219710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map</a:t>
                </a:r>
                <a:endParaRPr sz="20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40" name="Google Shape;240;g409fd4ada4e_9_112"/>
              <p:cNvSpPr txBox="1"/>
              <p:nvPr/>
            </p:nvSpPr>
            <p:spPr>
              <a:xfrm>
                <a:off x="723900" y="114300"/>
                <a:ext cx="3943200" cy="9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2563EB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GIS, VISUALIZATION &amp; AUDIO ENGINE</a:t>
                </a:r>
                <a:endParaRPr b="0" sz="900">
                  <a:solidFill>
                    <a:srgbClr val="2563EB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2563E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•</a:t>
                </a:r>
                <a:r>
                  <a:rPr b="1" lang="en-US" sz="105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Leaflet GIS / React-Leaflet </a:t>
                </a:r>
                <a:r>
                  <a:rPr b="1" lang="en-US" sz="1050">
                    <a:solidFill>
                      <a:srgbClr val="2563E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•</a:t>
                </a:r>
                <a:r>
                  <a:rPr b="1" lang="en-US" sz="105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Google Maps API</a:t>
                </a:r>
                <a:endParaRPr b="1" sz="10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2563E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•</a:t>
                </a:r>
                <a:r>
                  <a:rPr b="1" lang="en-US" sz="105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Recharts Analytics </a:t>
                </a:r>
                <a:r>
                  <a:rPr b="1" lang="en-US" sz="1050">
                    <a:solidFill>
                      <a:srgbClr val="2563E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•</a:t>
                </a:r>
                <a:r>
                  <a:rPr b="1" lang="en-US" sz="105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Lucide Icons </a:t>
                </a:r>
                <a:r>
                  <a:rPr b="1" lang="en-US" sz="1050">
                    <a:solidFill>
                      <a:srgbClr val="2563E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•</a:t>
                </a:r>
                <a:r>
                  <a:rPr b="1" lang="en-US" sz="105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Web Audio API</a:t>
                </a:r>
                <a:endParaRPr b="1" sz="10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850">
                    <a:solidFill>
                      <a:srgbClr val="1D4ED8"/>
                    </a:solidFill>
                    <a:latin typeface="Plus Jakarta Sans SemiBold"/>
                    <a:ea typeface="Plus Jakarta Sans SemiBold"/>
                    <a:cs typeface="Plus Jakarta Sans SemiBold"/>
                    <a:sym typeface="Plus Jakarta Sans SemiBold"/>
                  </a:rPr>
                  <a:t>🗺️ Live geospatial map layers + real-time driver audio cues</a:t>
                </a:r>
                <a:endParaRPr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241" name="Google Shape;241;g409fd4ada4e_9_112"/>
            <p:cNvGrpSpPr/>
            <p:nvPr/>
          </p:nvGrpSpPr>
          <p:grpSpPr>
            <a:xfrm>
              <a:off x="0" y="3086100"/>
              <a:ext cx="4819800" cy="1200300"/>
              <a:chOff x="0" y="0"/>
              <a:chExt cx="4819800" cy="1200300"/>
            </a:xfrm>
          </p:grpSpPr>
          <p:sp>
            <p:nvSpPr>
              <p:cNvPr id="242" name="Google Shape;242;g409fd4ada4e_9_112"/>
              <p:cNvSpPr/>
              <p:nvPr/>
            </p:nvSpPr>
            <p:spPr>
              <a:xfrm>
                <a:off x="0" y="0"/>
                <a:ext cx="4819800" cy="1200300"/>
              </a:xfrm>
              <a:prstGeom prst="roundRect">
                <a:avLst>
                  <a:gd fmla="val 12698" name="adj"/>
                </a:avLst>
              </a:prstGeom>
              <a:gradFill>
                <a:gsLst>
                  <a:gs pos="0">
                    <a:srgbClr val="EEF2FF"/>
                  </a:gs>
                  <a:gs pos="100000">
                    <a:srgbClr val="E0E7FF"/>
                  </a:gs>
                </a:gsLst>
                <a:lin ang="2700000" scaled="0"/>
              </a:gradFill>
              <a:ln cap="flat" cmpd="sng" w="14300">
                <a:solidFill>
                  <a:srgbClr val="818C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g409fd4ada4e_9_112"/>
              <p:cNvSpPr/>
              <p:nvPr/>
            </p:nvSpPr>
            <p:spPr>
              <a:xfrm>
                <a:off x="0" y="0"/>
                <a:ext cx="76200" cy="1200300"/>
              </a:xfrm>
              <a:prstGeom prst="roundRect">
                <a:avLst>
                  <a:gd fmla="val 50000" name="adj"/>
                </a:avLst>
              </a:prstGeom>
              <a:solidFill>
                <a:srgbClr val="4F46E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g409fd4ada4e_9_112"/>
              <p:cNvSpPr/>
              <p:nvPr/>
            </p:nvSpPr>
            <p:spPr>
              <a:xfrm>
                <a:off x="190500" y="190500"/>
                <a:ext cx="419100" cy="419100"/>
              </a:xfrm>
              <a:prstGeom prst="ellipse">
                <a:avLst/>
              </a:prstGeom>
              <a:solidFill>
                <a:srgbClr val="4F46E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g409fd4ada4e_9_112"/>
              <p:cNvSpPr txBox="1"/>
              <p:nvPr/>
            </p:nvSpPr>
            <p:spPr>
              <a:xfrm>
                <a:off x="190500" y="219710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storage</a:t>
                </a:r>
                <a:endParaRPr sz="20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46" name="Google Shape;246;g409fd4ada4e_9_112"/>
              <p:cNvSpPr txBox="1"/>
              <p:nvPr/>
            </p:nvSpPr>
            <p:spPr>
              <a:xfrm>
                <a:off x="723900" y="114300"/>
                <a:ext cx="3943200" cy="9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4F46E5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DATA LAYER &amp; PROTOCOL STANDARDS</a:t>
                </a:r>
                <a:endParaRPr b="0" sz="900">
                  <a:solidFill>
                    <a:srgbClr val="4F46E5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4F46E5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•</a:t>
                </a:r>
                <a:r>
                  <a:rPr b="1" lang="en-US" sz="105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GTFS-Realtime v2.0 Protocol Payloads</a:t>
                </a:r>
                <a:endParaRPr b="1" sz="10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4F46E5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•</a:t>
                </a:r>
                <a:r>
                  <a:rPr b="1" lang="en-US" sz="105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Route/Fare CSVs </a:t>
                </a:r>
                <a:r>
                  <a:rPr b="1" lang="en-US" sz="1050">
                    <a:solidFill>
                      <a:srgbClr val="4F46E5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•</a:t>
                </a:r>
                <a:r>
                  <a:rPr b="1" lang="en-US" sz="105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React Context </a:t>
                </a:r>
                <a:r>
                  <a:rPr b="1" lang="en-US" sz="1050">
                    <a:solidFill>
                      <a:srgbClr val="4F46E5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•</a:t>
                </a:r>
                <a:r>
                  <a:rPr b="1" lang="en-US" sz="105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JSON Feeds</a:t>
                </a:r>
                <a:endParaRPr b="1" sz="10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850">
                    <a:solidFill>
                      <a:srgbClr val="4338CA"/>
                    </a:solidFill>
                    <a:latin typeface="Plus Jakarta Sans SemiBold"/>
                    <a:ea typeface="Plus Jakarta Sans SemiBold"/>
                    <a:cs typeface="Plus Jakarta Sans SemiBold"/>
                    <a:sym typeface="Plus Jakarta Sans SemiBold"/>
                  </a:rPr>
                  <a:t>📊 Zero-latency state sync with deterministic payload parsing</a:t>
                </a:r>
                <a:endParaRPr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sp>
        <p:nvSpPr>
          <p:cNvPr descr="Your startup LOGO" id="247" name="Google Shape;247;g409fd4ada4e_9_112"/>
          <p:cNvSpPr/>
          <p:nvPr/>
        </p:nvSpPr>
        <p:spPr>
          <a:xfrm>
            <a:off x="315550" y="190500"/>
            <a:ext cx="14412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 Wizards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8" name="Google Shape;248;g409fd4ada4e_9_112"/>
          <p:cNvGrpSpPr/>
          <p:nvPr/>
        </p:nvGrpSpPr>
        <p:grpSpPr>
          <a:xfrm>
            <a:off x="5562600" y="1000125"/>
            <a:ext cx="6172200" cy="5257800"/>
            <a:chOff x="0" y="0"/>
            <a:chExt cx="6172200" cy="5257800"/>
          </a:xfrm>
        </p:grpSpPr>
        <p:sp>
          <p:nvSpPr>
            <p:cNvPr id="249" name="Google Shape;249;g409fd4ada4e_9_112"/>
            <p:cNvSpPr/>
            <p:nvPr/>
          </p:nvSpPr>
          <p:spPr>
            <a:xfrm>
              <a:off x="0" y="0"/>
              <a:ext cx="6172200" cy="324000"/>
            </a:xfrm>
            <a:prstGeom prst="roundRect">
              <a:avLst>
                <a:gd fmla="val 50000" name="adj"/>
              </a:avLst>
            </a:prstGeom>
            <a:solidFill>
              <a:srgbClr val="475569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0" name="Google Shape;250;g409fd4ada4e_9_112"/>
            <p:cNvGrpSpPr/>
            <p:nvPr/>
          </p:nvGrpSpPr>
          <p:grpSpPr>
            <a:xfrm>
              <a:off x="0" y="0"/>
              <a:ext cx="6172200" cy="324000"/>
              <a:chOff x="0" y="0"/>
              <a:chExt cx="6172200" cy="324000"/>
            </a:xfrm>
          </p:grpSpPr>
          <p:sp>
            <p:nvSpPr>
              <p:cNvPr id="251" name="Google Shape;251;g409fd4ada4e_9_112"/>
              <p:cNvSpPr/>
              <p:nvPr/>
            </p:nvSpPr>
            <p:spPr>
              <a:xfrm>
                <a:off x="0" y="0"/>
                <a:ext cx="6172200" cy="324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g409fd4ada4e_9_112"/>
              <p:cNvSpPr txBox="1"/>
              <p:nvPr/>
            </p:nvSpPr>
            <p:spPr>
              <a:xfrm>
                <a:off x="0" y="0"/>
                <a:ext cx="61722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F172A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🔄 Detailed System Implementation Workflow</a:t>
                </a:r>
                <a:endParaRPr b="1" sz="14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253" name="Google Shape;253;g409fd4ada4e_9_112"/>
            <p:cNvSpPr/>
            <p:nvPr/>
          </p:nvSpPr>
          <p:spPr>
            <a:xfrm>
              <a:off x="0" y="419100"/>
              <a:ext cx="6172200" cy="4838700"/>
            </a:xfrm>
            <a:prstGeom prst="roundRect">
              <a:avLst>
                <a:gd fmla="val 3149" name="adj"/>
              </a:avLst>
            </a:prstGeom>
            <a:solidFill>
              <a:srgbClr val="F8FAFC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4" name="Google Shape;254;g409fd4ada4e_9_112"/>
            <p:cNvGrpSpPr/>
            <p:nvPr/>
          </p:nvGrpSpPr>
          <p:grpSpPr>
            <a:xfrm>
              <a:off x="152400" y="533400"/>
              <a:ext cx="5867400" cy="743100"/>
              <a:chOff x="0" y="0"/>
              <a:chExt cx="5867400" cy="743100"/>
            </a:xfrm>
          </p:grpSpPr>
          <p:sp>
            <p:nvSpPr>
              <p:cNvPr id="255" name="Google Shape;255;g409fd4ada4e_9_112"/>
              <p:cNvSpPr/>
              <p:nvPr/>
            </p:nvSpPr>
            <p:spPr>
              <a:xfrm>
                <a:off x="0" y="0"/>
                <a:ext cx="5867400" cy="743100"/>
              </a:xfrm>
              <a:prstGeom prst="roundRect">
                <a:avLst>
                  <a:gd fmla="val 15384" name="adj"/>
                </a:avLst>
              </a:prstGeom>
              <a:gradFill>
                <a:gsLst>
                  <a:gs pos="0">
                    <a:srgbClr val="FFF7ED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14300">
                <a:solidFill>
                  <a:srgbClr val="FDBA7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g409fd4ada4e_9_112"/>
              <p:cNvSpPr/>
              <p:nvPr/>
            </p:nvSpPr>
            <p:spPr>
              <a:xfrm>
                <a:off x="114300" y="95250"/>
                <a:ext cx="609600" cy="247800"/>
              </a:xfrm>
              <a:prstGeom prst="roundRect">
                <a:avLst>
                  <a:gd fmla="val 23076" name="adj"/>
                </a:avLst>
              </a:pr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g409fd4ada4e_9_112"/>
              <p:cNvSpPr txBox="1"/>
              <p:nvPr/>
            </p:nvSpPr>
            <p:spPr>
              <a:xfrm>
                <a:off x="114300" y="95250"/>
                <a:ext cx="6096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850">
                    <a:solidFill>
                      <a:srgbClr val="FFFFFF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INGEST</a:t>
                </a:r>
                <a:endParaRPr b="0" sz="850">
                  <a:solidFill>
                    <a:srgbClr val="FFFFFF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  <p:sp>
            <p:nvSpPr>
              <p:cNvPr id="258" name="Google Shape;258;g409fd4ada4e_9_112"/>
              <p:cNvSpPr txBox="1"/>
              <p:nvPr/>
            </p:nvSpPr>
            <p:spPr>
              <a:xfrm>
                <a:off x="800100" y="57150"/>
                <a:ext cx="4953000" cy="628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050">
                    <a:solidFill>
                      <a:srgbClr val="0F172A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01. Multi-Source Data Ingestion &amp; Preprocessing Layer</a:t>
                </a:r>
                <a:endParaRPr b="0" i="0" sz="1050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1" i="0" lang="en-US" sz="850">
                    <a:solidFill>
                      <a:srgbClr val="C2410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📥 GTFS-RT v2.0 ➔ AFCS Smart Cards/QR ➔ IoT Telemetry ➔ CCTV Density</a:t>
                </a:r>
                <a:endParaRPr b="0" i="0" sz="850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b="0" i="0" lang="en-US" sz="800">
                    <a:solidFill>
                      <a:srgbClr val="64748B"/>
                    </a:solidFill>
                    <a:latin typeface="Plus Jakarta Sans SemiBold"/>
                    <a:ea typeface="Plus Jakarta Sans SemiBold"/>
                    <a:cs typeface="Plus Jakarta Sans SemiBold"/>
                    <a:sym typeface="Plus Jakarta Sans SemiBold"/>
                  </a:rPr>
                  <a:t>• Continuous ingestion (140+ stations) ➔ Telemetry normalization ➔ Stream to State Engine</a:t>
                </a:r>
                <a:endParaRPr b="0" i="0" sz="800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</p:grpSp>
        <p:grpSp>
          <p:nvGrpSpPr>
            <p:cNvPr id="259" name="Google Shape;259;g409fd4ada4e_9_112"/>
            <p:cNvGrpSpPr/>
            <p:nvPr/>
          </p:nvGrpSpPr>
          <p:grpSpPr>
            <a:xfrm>
              <a:off x="3009900" y="1295400"/>
              <a:ext cx="76200" cy="152550"/>
              <a:chOff x="-38100" y="0"/>
              <a:chExt cx="76200" cy="152550"/>
            </a:xfrm>
          </p:grpSpPr>
          <p:pic>
            <p:nvPicPr>
              <p:cNvPr id="260" name="Google Shape;260;g409fd4ada4e_9_11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9525" y="0"/>
                <a:ext cx="192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1" name="Google Shape;261;g409fd4ada4e_9_112"/>
              <p:cNvSpPr/>
              <p:nvPr/>
            </p:nvSpPr>
            <p:spPr>
              <a:xfrm>
                <a:off x="-38100" y="95250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60000" y="12000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2" name="Google Shape;262;g409fd4ada4e_9_112"/>
            <p:cNvGrpSpPr/>
            <p:nvPr/>
          </p:nvGrpSpPr>
          <p:grpSpPr>
            <a:xfrm>
              <a:off x="152400" y="1466850"/>
              <a:ext cx="5867400" cy="743100"/>
              <a:chOff x="0" y="0"/>
              <a:chExt cx="5867400" cy="743100"/>
            </a:xfrm>
          </p:grpSpPr>
          <p:sp>
            <p:nvSpPr>
              <p:cNvPr id="263" name="Google Shape;263;g409fd4ada4e_9_112"/>
              <p:cNvSpPr/>
              <p:nvPr/>
            </p:nvSpPr>
            <p:spPr>
              <a:xfrm>
                <a:off x="0" y="0"/>
                <a:ext cx="5867400" cy="743100"/>
              </a:xfrm>
              <a:prstGeom prst="roundRect">
                <a:avLst>
                  <a:gd fmla="val 15384" name="adj"/>
                </a:avLst>
              </a:prstGeom>
              <a:gradFill>
                <a:gsLst>
                  <a:gs pos="0">
                    <a:srgbClr val="ECFDF5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14300">
                <a:solidFill>
                  <a:srgbClr val="6EE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g409fd4ada4e_9_112"/>
              <p:cNvSpPr/>
              <p:nvPr/>
            </p:nvSpPr>
            <p:spPr>
              <a:xfrm>
                <a:off x="114300" y="95250"/>
                <a:ext cx="609600" cy="247800"/>
              </a:xfrm>
              <a:prstGeom prst="roundRect">
                <a:avLst>
                  <a:gd fmla="val 23076" name="adj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g409fd4ada4e_9_112"/>
              <p:cNvSpPr txBox="1"/>
              <p:nvPr/>
            </p:nvSpPr>
            <p:spPr>
              <a:xfrm>
                <a:off x="114300" y="95250"/>
                <a:ext cx="6096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850">
                    <a:solidFill>
                      <a:srgbClr val="FFFFFF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ENGINE</a:t>
                </a:r>
                <a:endParaRPr b="0" sz="850">
                  <a:solidFill>
                    <a:srgbClr val="FFFFFF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  <p:sp>
            <p:nvSpPr>
              <p:cNvPr id="266" name="Google Shape;266;g409fd4ada4e_9_112"/>
              <p:cNvSpPr txBox="1"/>
              <p:nvPr/>
            </p:nvSpPr>
            <p:spPr>
              <a:xfrm>
                <a:off x="800100" y="57150"/>
                <a:ext cx="4953000" cy="628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050">
                    <a:solidFill>
                      <a:srgbClr val="0F172A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02. Simulation Context &amp; Graph Engine </a:t>
                </a:r>
                <a:r>
                  <a:rPr b="0" i="0" lang="en-US" sz="850">
                    <a:solidFill>
                      <a:srgbClr val="059669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(2.5s Sync Loop)</a:t>
                </a:r>
                <a:endParaRPr b="0" i="0" sz="1050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1" i="0" lang="en-US" sz="850">
                    <a:solidFill>
                      <a:srgbClr val="047857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⚙️ GPS Map-Matching ➔ Dynamic PLF Calculation ➔ Graph Network Model</a:t>
                </a:r>
                <a:endParaRPr b="0" i="0" sz="850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b="0" i="0" lang="en-US" sz="800">
                    <a:solidFill>
                      <a:srgbClr val="64748B"/>
                    </a:solidFill>
                    <a:latin typeface="Plus Jakarta Sans SemiBold"/>
                    <a:ea typeface="Plus Jakarta Sans SemiBold"/>
                    <a:cs typeface="Plus Jakarta Sans SemiBold"/>
                    <a:sym typeface="Plus Jakarta Sans SemiBold"/>
                  </a:rPr>
                  <a:t>• Real-time position interpolation ➔ 30s bottleneck prediction ➔ Trigger evaluation</a:t>
                </a:r>
                <a:endParaRPr b="0" i="0" sz="800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</p:grpSp>
        <p:grpSp>
          <p:nvGrpSpPr>
            <p:cNvPr id="267" name="Google Shape;267;g409fd4ada4e_9_112"/>
            <p:cNvGrpSpPr/>
            <p:nvPr/>
          </p:nvGrpSpPr>
          <p:grpSpPr>
            <a:xfrm>
              <a:off x="3009900" y="2228850"/>
              <a:ext cx="76200" cy="152550"/>
              <a:chOff x="-38100" y="0"/>
              <a:chExt cx="76200" cy="152550"/>
            </a:xfrm>
          </p:grpSpPr>
          <p:pic>
            <p:nvPicPr>
              <p:cNvPr id="268" name="Google Shape;268;g409fd4ada4e_9_11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9525" y="0"/>
                <a:ext cx="192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9" name="Google Shape;269;g409fd4ada4e_9_112"/>
              <p:cNvSpPr/>
              <p:nvPr/>
            </p:nvSpPr>
            <p:spPr>
              <a:xfrm>
                <a:off x="-38100" y="95250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60000" y="12000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0" name="Google Shape;270;g409fd4ada4e_9_112"/>
            <p:cNvGrpSpPr/>
            <p:nvPr/>
          </p:nvGrpSpPr>
          <p:grpSpPr>
            <a:xfrm>
              <a:off x="152400" y="2400300"/>
              <a:ext cx="5867400" cy="781200"/>
              <a:chOff x="0" y="0"/>
              <a:chExt cx="5867400" cy="781200"/>
            </a:xfrm>
          </p:grpSpPr>
          <p:sp>
            <p:nvSpPr>
              <p:cNvPr id="271" name="Google Shape;271;g409fd4ada4e_9_112"/>
              <p:cNvSpPr/>
              <p:nvPr/>
            </p:nvSpPr>
            <p:spPr>
              <a:xfrm>
                <a:off x="0" y="0"/>
                <a:ext cx="5867400" cy="781200"/>
              </a:xfrm>
              <a:prstGeom prst="roundRect">
                <a:avLst>
                  <a:gd fmla="val 14634" name="adj"/>
                </a:avLst>
              </a:prstGeom>
              <a:gradFill>
                <a:gsLst>
                  <a:gs pos="0">
                    <a:srgbClr val="EEF2FF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14300">
                <a:solidFill>
                  <a:srgbClr val="A5B4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g409fd4ada4e_9_112"/>
              <p:cNvSpPr/>
              <p:nvPr/>
            </p:nvSpPr>
            <p:spPr>
              <a:xfrm>
                <a:off x="114300" y="95250"/>
                <a:ext cx="609600" cy="247800"/>
              </a:xfrm>
              <a:prstGeom prst="roundRect">
                <a:avLst>
                  <a:gd fmla="val 23076" name="adj"/>
                </a:avLst>
              </a:prstGeom>
              <a:solidFill>
                <a:srgbClr val="6366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g409fd4ada4e_9_112"/>
              <p:cNvSpPr txBox="1"/>
              <p:nvPr/>
            </p:nvSpPr>
            <p:spPr>
              <a:xfrm>
                <a:off x="114300" y="95250"/>
                <a:ext cx="6096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850">
                    <a:solidFill>
                      <a:srgbClr val="FFFFFF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RULES</a:t>
                </a:r>
                <a:endParaRPr b="0" sz="850">
                  <a:solidFill>
                    <a:srgbClr val="FFFFFF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  <p:sp>
            <p:nvSpPr>
              <p:cNvPr id="274" name="Google Shape;274;g409fd4ada4e_9_112"/>
              <p:cNvSpPr txBox="1"/>
              <p:nvPr/>
            </p:nvSpPr>
            <p:spPr>
              <a:xfrm>
                <a:off x="800100" y="38100"/>
                <a:ext cx="4953000" cy="705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050">
                    <a:solidFill>
                      <a:srgbClr val="0F172A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03. DPR Decision Engine &amp; Threshold Evaluation</a:t>
                </a:r>
                <a:endParaRPr b="0" i="0" sz="1050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1" i="0" lang="en-US" sz="850">
                    <a:solidFill>
                      <a:srgbClr val="4338C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⚖️ Formula: </a:t>
                </a:r>
                <a:r>
                  <a:rPr b="1" i="0" lang="en-US" sz="800">
                    <a:solidFill>
                      <a:srgbClr val="4338CA"/>
                    </a:solidFill>
                    <a:highlight>
                      <a:srgbClr val="E0E7FF"/>
                    </a:highlight>
                    <a:latin typeface="JetBrains Mono"/>
                    <a:ea typeface="JetBrains Mono"/>
                    <a:cs typeface="JetBrains Mono"/>
                    <a:sym typeface="JetBrains Mono"/>
                  </a:rPr>
                  <a:t>NOB = (W_saved × P_waiting × V_time) - (C_deadhead + D_delay) &gt; 0</a:t>
                </a:r>
                <a:endParaRPr b="0" i="0" sz="850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b="0" i="0" lang="en-US" sz="800">
                    <a:solidFill>
                      <a:srgbClr val="64748B"/>
                    </a:solidFill>
                    <a:latin typeface="Plus Jakarta Sans SemiBold"/>
                    <a:ea typeface="Plus Jakarta Sans SemiBold"/>
                    <a:cs typeface="Plus Jakarta Sans SemiBold"/>
                    <a:sym typeface="Plus Jakarta Sans SemiBold"/>
                  </a:rPr>
                  <a:t>• Detects Overload (&gt;85% PLF) + Low-Load (&lt;30%) ➔ Evaluates DPR ➔ Triggers Express 9X (&lt;5s)</a:t>
                </a:r>
                <a:endParaRPr b="0" i="0" sz="800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</p:grpSp>
        <p:grpSp>
          <p:nvGrpSpPr>
            <p:cNvPr id="275" name="Google Shape;275;g409fd4ada4e_9_112"/>
            <p:cNvGrpSpPr/>
            <p:nvPr/>
          </p:nvGrpSpPr>
          <p:grpSpPr>
            <a:xfrm>
              <a:off x="3009900" y="3200400"/>
              <a:ext cx="76200" cy="152550"/>
              <a:chOff x="-38100" y="0"/>
              <a:chExt cx="76200" cy="152550"/>
            </a:xfrm>
          </p:grpSpPr>
          <p:pic>
            <p:nvPicPr>
              <p:cNvPr id="276" name="Google Shape;276;g409fd4ada4e_9_112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9525" y="0"/>
                <a:ext cx="192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7" name="Google Shape;277;g409fd4ada4e_9_112"/>
              <p:cNvSpPr/>
              <p:nvPr/>
            </p:nvSpPr>
            <p:spPr>
              <a:xfrm>
                <a:off x="-38100" y="95250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60000" y="12000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rgbClr val="6366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8" name="Google Shape;278;g409fd4ada4e_9_112"/>
            <p:cNvGrpSpPr/>
            <p:nvPr/>
          </p:nvGrpSpPr>
          <p:grpSpPr>
            <a:xfrm>
              <a:off x="152400" y="3371850"/>
              <a:ext cx="5867400" cy="1771800"/>
              <a:chOff x="0" y="0"/>
              <a:chExt cx="5867400" cy="1771800"/>
            </a:xfrm>
          </p:grpSpPr>
          <p:sp>
            <p:nvSpPr>
              <p:cNvPr id="279" name="Google Shape;279;g409fd4ada4e_9_112"/>
              <p:cNvSpPr/>
              <p:nvPr/>
            </p:nvSpPr>
            <p:spPr>
              <a:xfrm>
                <a:off x="0" y="0"/>
                <a:ext cx="5867400" cy="1771800"/>
              </a:xfrm>
              <a:prstGeom prst="roundRect">
                <a:avLst>
                  <a:gd fmla="val 7526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g409fd4ada4e_9_112"/>
              <p:cNvSpPr txBox="1"/>
              <p:nvPr/>
            </p:nvSpPr>
            <p:spPr>
              <a:xfrm>
                <a:off x="0" y="57150"/>
                <a:ext cx="58674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900">
                    <a:solidFill>
                      <a:srgbClr val="38BDF8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04. OPERATOR APPROVAL ➔ CLOSED-LOOP MULTI-ROLE DISPATCH EXECUTION</a:t>
                </a:r>
                <a:endParaRPr b="0" i="0" sz="900">
                  <a:solidFill>
                    <a:srgbClr val="38BDF8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  <p:grpSp>
            <p:nvGrpSpPr>
              <p:cNvPr id="281" name="Google Shape;281;g409fd4ada4e_9_112"/>
              <p:cNvGrpSpPr/>
              <p:nvPr/>
            </p:nvGrpSpPr>
            <p:grpSpPr>
              <a:xfrm>
                <a:off x="114300" y="323850"/>
                <a:ext cx="1790700" cy="1314600"/>
                <a:chOff x="0" y="0"/>
                <a:chExt cx="1790700" cy="1314600"/>
              </a:xfrm>
            </p:grpSpPr>
            <p:sp>
              <p:nvSpPr>
                <p:cNvPr id="282" name="Google Shape;282;g409fd4ada4e_9_112"/>
                <p:cNvSpPr/>
                <p:nvPr/>
              </p:nvSpPr>
              <p:spPr>
                <a:xfrm>
                  <a:off x="0" y="0"/>
                  <a:ext cx="1790700" cy="1314600"/>
                </a:xfrm>
                <a:prstGeom prst="roundRect">
                  <a:avLst>
                    <a:gd fmla="val 7246" name="adj"/>
                  </a:avLst>
                </a:prstGeom>
                <a:solidFill>
                  <a:srgbClr val="1E293B"/>
                </a:solidFill>
                <a:ln cap="flat" cmpd="sng" w="14300">
                  <a:solidFill>
                    <a:srgbClr val="33415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3" name="Google Shape;283;g409fd4ada4e_9_112"/>
                <p:cNvSpPr txBox="1"/>
                <p:nvPr/>
              </p:nvSpPr>
              <p:spPr>
                <a:xfrm>
                  <a:off x="95250" y="95250"/>
                  <a:ext cx="1600200" cy="11241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900">
                      <a:solidFill>
                        <a:srgbClr val="F97316"/>
                      </a:solidFill>
                      <a:latin typeface="Plus Jakarta Sans ExtraBold"/>
                      <a:ea typeface="Plus Jakarta Sans ExtraBold"/>
                      <a:cs typeface="Plus Jakarta Sans ExtraBold"/>
                      <a:sym typeface="Plus Jakarta Sans ExtraBold"/>
                    </a:rPr>
                    <a:t>🖥️ COMMAND CENTER</a:t>
                  </a:r>
                  <a:endParaRPr b="0" i="0" sz="900">
                    <a:solidFill>
                      <a:srgbClr val="F97316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750">
                      <a:solidFill>
                        <a:srgbClr val="CBD5E1"/>
                      </a:solidFill>
                      <a:latin typeface="Plus Jakarta Sans Medium"/>
                      <a:ea typeface="Plus Jakarta Sans Medium"/>
                      <a:cs typeface="Plus Jakarta Sans Medium"/>
                      <a:sym typeface="Plus Jakarta Sans Medium"/>
                    </a:rPr>
                    <a:t>• 1-Click Diversion Approval</a:t>
                  </a:r>
                  <a:endParaRPr b="0" i="0" sz="750">
                    <a:solidFill>
                      <a:srgbClr val="F97316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750">
                      <a:solidFill>
                        <a:srgbClr val="CBD5E1"/>
                      </a:solidFill>
                      <a:latin typeface="Plus Jakarta Sans Medium"/>
                      <a:ea typeface="Plus Jakarta Sans Medium"/>
                      <a:cs typeface="Plus Jakarta Sans Medium"/>
                      <a:sym typeface="Plus Jakarta Sans Medium"/>
                    </a:rPr>
                    <a:t>• Live GIS Corridor Heatmap</a:t>
                  </a:r>
                  <a:endParaRPr b="0" i="0" sz="750">
                    <a:solidFill>
                      <a:srgbClr val="F97316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300"/>
                    </a:spcAft>
                    <a:buNone/>
                  </a:pPr>
                  <a:r>
                    <a:rPr b="0" i="0" lang="en-US" sz="750">
                      <a:solidFill>
                        <a:srgbClr val="CBD5E1"/>
                      </a:solidFill>
                      <a:latin typeface="Plus Jakarta Sans Medium"/>
                      <a:ea typeface="Plus Jakarta Sans Medium"/>
                      <a:cs typeface="Plus Jakarta Sans Medium"/>
                      <a:sym typeface="Plus Jakarta Sans Medium"/>
                    </a:rPr>
                    <a:t>• Real-Time Dispatch Audit Log</a:t>
                  </a:r>
                  <a:endParaRPr b="0" i="0" sz="750">
                    <a:solidFill>
                      <a:srgbClr val="F97316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endParaRPr>
                </a:p>
              </p:txBody>
            </p:sp>
          </p:grpSp>
          <p:grpSp>
            <p:nvGrpSpPr>
              <p:cNvPr id="284" name="Google Shape;284;g409fd4ada4e_9_112"/>
              <p:cNvGrpSpPr/>
              <p:nvPr/>
            </p:nvGrpSpPr>
            <p:grpSpPr>
              <a:xfrm>
                <a:off x="2038350" y="323850"/>
                <a:ext cx="1790700" cy="1314600"/>
                <a:chOff x="0" y="0"/>
                <a:chExt cx="1790700" cy="1314600"/>
              </a:xfrm>
            </p:grpSpPr>
            <p:sp>
              <p:nvSpPr>
                <p:cNvPr id="285" name="Google Shape;285;g409fd4ada4e_9_112"/>
                <p:cNvSpPr/>
                <p:nvPr/>
              </p:nvSpPr>
              <p:spPr>
                <a:xfrm>
                  <a:off x="0" y="0"/>
                  <a:ext cx="1790700" cy="1314600"/>
                </a:xfrm>
                <a:prstGeom prst="roundRect">
                  <a:avLst>
                    <a:gd fmla="val 7246" name="adj"/>
                  </a:avLst>
                </a:prstGeom>
                <a:solidFill>
                  <a:srgbClr val="1E293B"/>
                </a:solidFill>
                <a:ln cap="flat" cmpd="sng" w="14300">
                  <a:solidFill>
                    <a:srgbClr val="33415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" name="Google Shape;286;g409fd4ada4e_9_112"/>
                <p:cNvSpPr txBox="1"/>
                <p:nvPr/>
              </p:nvSpPr>
              <p:spPr>
                <a:xfrm>
                  <a:off x="95250" y="95250"/>
                  <a:ext cx="1600200" cy="11241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900">
                      <a:solidFill>
                        <a:srgbClr val="10B981"/>
                      </a:solidFill>
                      <a:latin typeface="Plus Jakarta Sans ExtraBold"/>
                      <a:ea typeface="Plus Jakarta Sans ExtraBold"/>
                      <a:cs typeface="Plus Jakarta Sans ExtraBold"/>
                      <a:sym typeface="Plus Jakarta Sans ExtraBold"/>
                    </a:rPr>
                    <a:t>🚘 DRIVER HUD</a:t>
                  </a:r>
                  <a:endParaRPr b="0" i="0" sz="900">
                    <a:solidFill>
                      <a:srgbClr val="10B981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750">
                      <a:solidFill>
                        <a:srgbClr val="CBD5E1"/>
                      </a:solidFill>
                      <a:latin typeface="Plus Jakarta Sans Medium"/>
                      <a:ea typeface="Plus Jakarta Sans Medium"/>
                      <a:cs typeface="Plus Jakarta Sans Medium"/>
                      <a:sym typeface="Plus Jakarta Sans Medium"/>
                    </a:rPr>
                    <a:t>• Audio-Visual Reroute Directives</a:t>
                  </a:r>
                  <a:endParaRPr b="0" i="0" sz="750">
                    <a:solidFill>
                      <a:srgbClr val="10B981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750">
                      <a:solidFill>
                        <a:srgbClr val="CBD5E1"/>
                      </a:solidFill>
                      <a:latin typeface="Plus Jakarta Sans Medium"/>
                      <a:ea typeface="Plus Jakarta Sans Medium"/>
                      <a:cs typeface="Plus Jakarta Sans Medium"/>
                      <a:sym typeface="Plus Jakarta Sans Medium"/>
                    </a:rPr>
                    <a:t>• Web Audio Chime Trigger</a:t>
                  </a:r>
                  <a:endParaRPr b="0" i="0" sz="750">
                    <a:solidFill>
                      <a:srgbClr val="10B981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300"/>
                    </a:spcAft>
                    <a:buNone/>
                  </a:pPr>
                  <a:r>
                    <a:rPr b="0" i="0" lang="en-US" sz="750">
                      <a:solidFill>
                        <a:srgbClr val="CBD5E1"/>
                      </a:solidFill>
                      <a:latin typeface="Plus Jakarta Sans Medium"/>
                      <a:ea typeface="Plus Jakarta Sans Medium"/>
                      <a:cs typeface="Plus Jakarta Sans Medium"/>
                      <a:sym typeface="Plus Jakarta Sans Medium"/>
                    </a:rPr>
                    <a:t>• Express 9X Turn-by-Turn</a:t>
                  </a:r>
                  <a:endParaRPr b="0" i="0" sz="750">
                    <a:solidFill>
                      <a:srgbClr val="10B981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endParaRPr>
                </a:p>
              </p:txBody>
            </p:sp>
          </p:grpSp>
          <p:grpSp>
            <p:nvGrpSpPr>
              <p:cNvPr id="287" name="Google Shape;287;g409fd4ada4e_9_112"/>
              <p:cNvGrpSpPr/>
              <p:nvPr/>
            </p:nvGrpSpPr>
            <p:grpSpPr>
              <a:xfrm>
                <a:off x="3962400" y="323850"/>
                <a:ext cx="1790700" cy="1314600"/>
                <a:chOff x="0" y="0"/>
                <a:chExt cx="1790700" cy="1314600"/>
              </a:xfrm>
            </p:grpSpPr>
            <p:sp>
              <p:nvSpPr>
                <p:cNvPr id="288" name="Google Shape;288;g409fd4ada4e_9_112"/>
                <p:cNvSpPr/>
                <p:nvPr/>
              </p:nvSpPr>
              <p:spPr>
                <a:xfrm>
                  <a:off x="0" y="0"/>
                  <a:ext cx="1790700" cy="1314600"/>
                </a:xfrm>
                <a:prstGeom prst="roundRect">
                  <a:avLst>
                    <a:gd fmla="val 7246" name="adj"/>
                  </a:avLst>
                </a:prstGeom>
                <a:solidFill>
                  <a:srgbClr val="1E293B"/>
                </a:solidFill>
                <a:ln cap="flat" cmpd="sng" w="14300">
                  <a:solidFill>
                    <a:srgbClr val="33415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" name="Google Shape;289;g409fd4ada4e_9_112"/>
                <p:cNvSpPr txBox="1"/>
                <p:nvPr/>
              </p:nvSpPr>
              <p:spPr>
                <a:xfrm>
                  <a:off x="95250" y="95250"/>
                  <a:ext cx="1600200" cy="11241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900">
                      <a:solidFill>
                        <a:srgbClr val="38BDF8"/>
                      </a:solidFill>
                      <a:latin typeface="Plus Jakarta Sans ExtraBold"/>
                      <a:ea typeface="Plus Jakarta Sans ExtraBold"/>
                      <a:cs typeface="Plus Jakarta Sans ExtraBold"/>
                      <a:sym typeface="Plus Jakarta Sans ExtraBold"/>
                    </a:rPr>
                    <a:t>📱 COMMUTER APP</a:t>
                  </a:r>
                  <a:endParaRPr b="0" i="0" sz="900">
                    <a:solidFill>
                      <a:srgbClr val="38BDF8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750">
                      <a:solidFill>
                        <a:srgbClr val="CBD5E1"/>
                      </a:solidFill>
                      <a:latin typeface="Plus Jakarta Sans Medium"/>
                      <a:ea typeface="Plus Jakarta Sans Medium"/>
                      <a:cs typeface="Plus Jakarta Sans Medium"/>
                      <a:sym typeface="Plus Jakarta Sans Medium"/>
                    </a:rPr>
                    <a:t>• Speed vs Comfort Routing</a:t>
                  </a:r>
                  <a:endParaRPr b="0" i="0" sz="750">
                    <a:solidFill>
                      <a:srgbClr val="38BDF8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750">
                      <a:solidFill>
                        <a:srgbClr val="CBD5E1"/>
                      </a:solidFill>
                      <a:latin typeface="Plus Jakarta Sans Medium"/>
                      <a:ea typeface="Plus Jakarta Sans Medium"/>
                      <a:cs typeface="Plus Jakarta Sans Medium"/>
                      <a:sym typeface="Plus Jakarta Sans Medium"/>
                    </a:rPr>
                    <a:t>• Live ETA &amp; Crowdedness</a:t>
                  </a:r>
                  <a:endParaRPr b="0" i="0" sz="750">
                    <a:solidFill>
                      <a:srgbClr val="38BDF8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300"/>
                    </a:spcAft>
                    <a:buNone/>
                  </a:pPr>
                  <a:r>
                    <a:rPr b="0" i="0" lang="en-US" sz="750">
                      <a:solidFill>
                        <a:srgbClr val="CBD5E1"/>
                      </a:solidFill>
                      <a:latin typeface="Plus Jakarta Sans Medium"/>
                      <a:ea typeface="Plus Jakarta Sans Medium"/>
                      <a:cs typeface="Plus Jakarta Sans Medium"/>
                      <a:sym typeface="Plus Jakarta Sans Medium"/>
                    </a:rPr>
                    <a:t>• Smart Transfer Recommendations</a:t>
                  </a:r>
                  <a:endParaRPr b="0" i="0" sz="750">
                    <a:solidFill>
                      <a:srgbClr val="38BDF8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40a0314b14e_0_2989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40a0314b14e_0_2989"/>
          <p:cNvSpPr txBox="1"/>
          <p:nvPr>
            <p:ph type="title"/>
          </p:nvPr>
        </p:nvSpPr>
        <p:spPr>
          <a:xfrm>
            <a:off x="609600" y="278423"/>
            <a:ext cx="10972800" cy="6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FEASIBILITY &amp; VIABILITY ANALYSIS</a:t>
            </a:r>
            <a:endParaRPr b="1" sz="28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Client-Side Execution, Risk Assessment &amp; Production Mitigation Plan</a:t>
            </a:r>
            <a:endParaRPr b="1" sz="1050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7" name="Google Shape;297;g40a0314b14e_0_2989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98" name="Google Shape;298;g40a0314b14e_0_2989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299" name="Google Shape;299;g40a0314b14e_0_2989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g40a0314b14e_0_29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g40a0314b14e_0_2989"/>
          <p:cNvGrpSpPr/>
          <p:nvPr/>
        </p:nvGrpSpPr>
        <p:grpSpPr>
          <a:xfrm>
            <a:off x="457200" y="1190625"/>
            <a:ext cx="3543300" cy="5000700"/>
            <a:chOff x="0" y="0"/>
            <a:chExt cx="3543300" cy="5000700"/>
          </a:xfrm>
        </p:grpSpPr>
        <p:sp>
          <p:nvSpPr>
            <p:cNvPr id="302" name="Google Shape;302;g40a0314b14e_0_2989"/>
            <p:cNvSpPr/>
            <p:nvPr/>
          </p:nvSpPr>
          <p:spPr>
            <a:xfrm>
              <a:off x="0" y="0"/>
              <a:ext cx="3543300" cy="5000700"/>
            </a:xfrm>
            <a:prstGeom prst="roundRect">
              <a:avLst>
                <a:gd fmla="val 3763" name="adj"/>
              </a:avLst>
            </a:prstGeom>
            <a:solidFill>
              <a:srgbClr val="ECFDF5"/>
            </a:solidFill>
            <a:ln cap="flat" cmpd="sng" w="14300">
              <a:solidFill>
                <a:srgbClr val="A7F3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g40a0314b14e_0_2989"/>
            <p:cNvSpPr/>
            <p:nvPr/>
          </p:nvSpPr>
          <p:spPr>
            <a:xfrm>
              <a:off x="0" y="0"/>
              <a:ext cx="3543300" cy="573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4" name="Google Shape;304;g40a0314b14e_0_2989"/>
            <p:cNvGrpSpPr/>
            <p:nvPr/>
          </p:nvGrpSpPr>
          <p:grpSpPr>
            <a:xfrm>
              <a:off x="190500" y="152400"/>
              <a:ext cx="1714500" cy="247800"/>
              <a:chOff x="0" y="0"/>
              <a:chExt cx="1714500" cy="247800"/>
            </a:xfrm>
          </p:grpSpPr>
          <p:sp>
            <p:nvSpPr>
              <p:cNvPr id="305" name="Google Shape;305;g40a0314b14e_0_2989"/>
              <p:cNvSpPr/>
              <p:nvPr/>
            </p:nvSpPr>
            <p:spPr>
              <a:xfrm>
                <a:off x="0" y="0"/>
                <a:ext cx="1524000" cy="247800"/>
              </a:xfrm>
              <a:prstGeom prst="roundRect">
                <a:avLst>
                  <a:gd fmla="val 50000" name="adj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g40a0314b14e_0_2989"/>
              <p:cNvSpPr txBox="1"/>
              <p:nvPr/>
            </p:nvSpPr>
            <p:spPr>
              <a:xfrm>
                <a:off x="0" y="0"/>
                <a:ext cx="1714500" cy="247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FFFFFF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FEASIBILITY ANALYSIS</a:t>
                </a:r>
                <a:endParaRPr b="0" sz="900">
                  <a:solidFill>
                    <a:srgbClr val="FFFFFF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</p:grpSp>
        <p:grpSp>
          <p:nvGrpSpPr>
            <p:cNvPr id="307" name="Google Shape;307;g40a0314b14e_0_2989"/>
            <p:cNvGrpSpPr/>
            <p:nvPr/>
          </p:nvGrpSpPr>
          <p:grpSpPr>
            <a:xfrm>
              <a:off x="190500" y="495300"/>
              <a:ext cx="3162300" cy="857400"/>
              <a:chOff x="0" y="0"/>
              <a:chExt cx="3162300" cy="857400"/>
            </a:xfrm>
          </p:grpSpPr>
          <p:sp>
            <p:nvSpPr>
              <p:cNvPr id="308" name="Google Shape;308;g40a0314b14e_0_2989"/>
              <p:cNvSpPr/>
              <p:nvPr/>
            </p:nvSpPr>
            <p:spPr>
              <a:xfrm>
                <a:off x="0" y="0"/>
                <a:ext cx="3162300" cy="857400"/>
              </a:xfrm>
              <a:prstGeom prst="roundRect">
                <a:avLst>
                  <a:gd fmla="val 1111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1FAE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g40a0314b14e_0_2989"/>
              <p:cNvSpPr/>
              <p:nvPr/>
            </p:nvSpPr>
            <p:spPr>
              <a:xfrm>
                <a:off x="190500" y="142875"/>
                <a:ext cx="571500" cy="5715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762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310" name="Google Shape;310;g40a0314b14e_0_298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52400" y="104775"/>
                <a:ext cx="647700" cy="647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1" name="Google Shape;311;g40a0314b14e_0_2989"/>
              <p:cNvSpPr txBox="1"/>
              <p:nvPr/>
            </p:nvSpPr>
            <p:spPr>
              <a:xfrm>
                <a:off x="190500" y="257175"/>
                <a:ext cx="571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065F46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100%</a:t>
                </a:r>
                <a:endParaRPr b="0" sz="1100">
                  <a:solidFill>
                    <a:srgbClr val="065F46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600">
                    <a:solidFill>
                      <a:srgbClr val="047857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CLIENT-SIDE</a:t>
                </a:r>
                <a:endParaRPr b="0" sz="600">
                  <a:solidFill>
                    <a:srgbClr val="047857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  <p:sp>
            <p:nvSpPr>
              <p:cNvPr id="312" name="Google Shape;312;g40a0314b14e_0_2989"/>
              <p:cNvSpPr txBox="1"/>
              <p:nvPr/>
            </p:nvSpPr>
            <p:spPr>
              <a:xfrm>
                <a:off x="904875" y="95250"/>
                <a:ext cx="2143200" cy="685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065F46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100% Client-Side Engine</a:t>
                </a:r>
                <a:endParaRPr b="1" sz="950">
                  <a:solidFill>
                    <a:srgbClr val="065F4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-US" sz="800">
                    <a:solidFill>
                      <a:srgbClr val="059669"/>
                    </a:solidFill>
                    <a:latin typeface="Plus Jakarta Sans SemiBold"/>
                    <a:ea typeface="Plus Jakarta Sans SemiBold"/>
                    <a:cs typeface="Plus Jakarta Sans SemiBold"/>
                    <a:sym typeface="Plus Jakarta Sans SemiBold"/>
                  </a:rPr>
                  <a:t>Zero external ML/DB costs. Runs entirely via Next.js 16 + React Context timer loop.</a:t>
                </a:r>
                <a:endParaRPr b="0" sz="800">
                  <a:solidFill>
                    <a:srgbClr val="059669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endParaRPr>
              </a:p>
            </p:txBody>
          </p:sp>
        </p:grpSp>
        <p:grpSp>
          <p:nvGrpSpPr>
            <p:cNvPr id="313" name="Google Shape;313;g40a0314b14e_0_2989"/>
            <p:cNvGrpSpPr/>
            <p:nvPr/>
          </p:nvGrpSpPr>
          <p:grpSpPr>
            <a:xfrm>
              <a:off x="190500" y="1466850"/>
              <a:ext cx="3162300" cy="1047900"/>
              <a:chOff x="0" y="0"/>
              <a:chExt cx="3162300" cy="1047900"/>
            </a:xfrm>
          </p:grpSpPr>
          <p:sp>
            <p:nvSpPr>
              <p:cNvPr id="314" name="Google Shape;314;g40a0314b14e_0_2989"/>
              <p:cNvSpPr/>
              <p:nvPr/>
            </p:nvSpPr>
            <p:spPr>
              <a:xfrm>
                <a:off x="0" y="0"/>
                <a:ext cx="3162300" cy="1047900"/>
              </a:xfrm>
              <a:prstGeom prst="roundRect">
                <a:avLst>
                  <a:gd fmla="val 909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g40a0314b14e_0_2989"/>
              <p:cNvSpPr/>
              <p:nvPr/>
            </p:nvSpPr>
            <p:spPr>
              <a:xfrm>
                <a:off x="0" y="0"/>
                <a:ext cx="47700" cy="1047900"/>
              </a:xfrm>
              <a:prstGeom prst="roundRect">
                <a:avLst>
                  <a:gd fmla="val 40000" name="adj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g40a0314b14e_0_2989"/>
              <p:cNvSpPr txBox="1"/>
              <p:nvPr/>
            </p:nvSpPr>
            <p:spPr>
              <a:xfrm>
                <a:off x="171450" y="76200"/>
                <a:ext cx="2857500" cy="895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65F46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Zero Infrastructure Overhead</a:t>
                </a:r>
                <a:endParaRPr b="1" sz="1050">
                  <a:solidFill>
                    <a:srgbClr val="065F4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85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In-browser 2.5s simulation loop handles map-matching, bus telemetry &amp; live load calculations.</a:t>
                </a:r>
                <a:endParaRPr b="0" sz="8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317" name="Google Shape;317;g40a0314b14e_0_2989"/>
            <p:cNvGrpSpPr/>
            <p:nvPr/>
          </p:nvGrpSpPr>
          <p:grpSpPr>
            <a:xfrm>
              <a:off x="190500" y="2609850"/>
              <a:ext cx="3162300" cy="1047900"/>
              <a:chOff x="0" y="0"/>
              <a:chExt cx="3162300" cy="1047900"/>
            </a:xfrm>
          </p:grpSpPr>
          <p:sp>
            <p:nvSpPr>
              <p:cNvPr id="318" name="Google Shape;318;g40a0314b14e_0_2989"/>
              <p:cNvSpPr/>
              <p:nvPr/>
            </p:nvSpPr>
            <p:spPr>
              <a:xfrm>
                <a:off x="0" y="0"/>
                <a:ext cx="3162300" cy="1047900"/>
              </a:xfrm>
              <a:prstGeom prst="roundRect">
                <a:avLst>
                  <a:gd fmla="val 909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g40a0314b14e_0_2989"/>
              <p:cNvSpPr/>
              <p:nvPr/>
            </p:nvSpPr>
            <p:spPr>
              <a:xfrm>
                <a:off x="0" y="0"/>
                <a:ext cx="47700" cy="1047900"/>
              </a:xfrm>
              <a:prstGeom prst="roundRect">
                <a:avLst>
                  <a:gd fmla="val 40000" name="adj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g40a0314b14e_0_2989"/>
              <p:cNvSpPr txBox="1"/>
              <p:nvPr/>
            </p:nvSpPr>
            <p:spPr>
              <a:xfrm>
                <a:off x="171450" y="76200"/>
                <a:ext cx="2857500" cy="895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65F46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Explainable Rule Engine (DPR)</a:t>
                </a:r>
                <a:endParaRPr b="1" sz="1050">
                  <a:solidFill>
                    <a:srgbClr val="065F4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800">
                    <a:solidFill>
                      <a:srgbClr val="047857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NOB = (W_saved × P_wait × V_time) - Costs &gt; 0</a:t>
                </a:r>
                <a:endParaRPr b="1" sz="800">
                  <a:solidFill>
                    <a:srgbClr val="047857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-US" sz="80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Guarantees deterministic, auditable dispatch choices.</a:t>
                </a:r>
                <a:endParaRPr b="0" sz="80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321" name="Google Shape;321;g40a0314b14e_0_2989"/>
            <p:cNvGrpSpPr/>
            <p:nvPr/>
          </p:nvGrpSpPr>
          <p:grpSpPr>
            <a:xfrm>
              <a:off x="190500" y="3752850"/>
              <a:ext cx="3162300" cy="1047900"/>
              <a:chOff x="0" y="0"/>
              <a:chExt cx="3162300" cy="1047900"/>
            </a:xfrm>
          </p:grpSpPr>
          <p:sp>
            <p:nvSpPr>
              <p:cNvPr id="322" name="Google Shape;322;g40a0314b14e_0_2989"/>
              <p:cNvSpPr/>
              <p:nvPr/>
            </p:nvSpPr>
            <p:spPr>
              <a:xfrm>
                <a:off x="0" y="0"/>
                <a:ext cx="3162300" cy="1047900"/>
              </a:xfrm>
              <a:prstGeom prst="roundRect">
                <a:avLst>
                  <a:gd fmla="val 909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g40a0314b14e_0_2989"/>
              <p:cNvSpPr/>
              <p:nvPr/>
            </p:nvSpPr>
            <p:spPr>
              <a:xfrm>
                <a:off x="0" y="0"/>
                <a:ext cx="47700" cy="1047900"/>
              </a:xfrm>
              <a:prstGeom prst="roundRect">
                <a:avLst>
                  <a:gd fmla="val 40000" name="adj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g40a0314b14e_0_2989"/>
              <p:cNvSpPr txBox="1"/>
              <p:nvPr/>
            </p:nvSpPr>
            <p:spPr>
              <a:xfrm>
                <a:off x="171450" y="76200"/>
                <a:ext cx="2857500" cy="895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65F46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Plug &amp; Play Standards</a:t>
                </a:r>
                <a:endParaRPr b="1" sz="1050">
                  <a:solidFill>
                    <a:srgbClr val="065F4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85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Native support for GTFS-Realtime v2.0 feeds &amp; Ahmedabad Janmarg CSV route/fare tables.</a:t>
                </a:r>
                <a:endParaRPr b="0" sz="8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grpSp>
        <p:nvGrpSpPr>
          <p:cNvPr id="325" name="Google Shape;325;g40a0314b14e_0_2989"/>
          <p:cNvGrpSpPr/>
          <p:nvPr/>
        </p:nvGrpSpPr>
        <p:grpSpPr>
          <a:xfrm>
            <a:off x="4324350" y="1190625"/>
            <a:ext cx="3543300" cy="5000700"/>
            <a:chOff x="0" y="0"/>
            <a:chExt cx="3543300" cy="5000700"/>
          </a:xfrm>
        </p:grpSpPr>
        <p:sp>
          <p:nvSpPr>
            <p:cNvPr id="326" name="Google Shape;326;g40a0314b14e_0_2989"/>
            <p:cNvSpPr/>
            <p:nvPr/>
          </p:nvSpPr>
          <p:spPr>
            <a:xfrm>
              <a:off x="0" y="0"/>
              <a:ext cx="3543300" cy="5000700"/>
            </a:xfrm>
            <a:prstGeom prst="roundRect">
              <a:avLst>
                <a:gd fmla="val 3763" name="adj"/>
              </a:avLst>
            </a:prstGeom>
            <a:solidFill>
              <a:srgbClr val="FFF7ED"/>
            </a:solidFill>
            <a:ln cap="flat" cmpd="sng" w="14300">
              <a:solidFill>
                <a:srgbClr val="FED7A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g40a0314b14e_0_2989"/>
            <p:cNvSpPr/>
            <p:nvPr/>
          </p:nvSpPr>
          <p:spPr>
            <a:xfrm>
              <a:off x="0" y="0"/>
              <a:ext cx="3543300" cy="57300"/>
            </a:xfrm>
            <a:prstGeom prst="roundRect">
              <a:avLst>
                <a:gd fmla="val 50000" name="adj"/>
              </a:avLst>
            </a:prstGeom>
            <a:solidFill>
              <a:srgbClr val="F9731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8" name="Google Shape;328;g40a0314b14e_0_2989"/>
            <p:cNvGrpSpPr/>
            <p:nvPr/>
          </p:nvGrpSpPr>
          <p:grpSpPr>
            <a:xfrm>
              <a:off x="190500" y="152400"/>
              <a:ext cx="1714500" cy="247800"/>
              <a:chOff x="0" y="0"/>
              <a:chExt cx="1714500" cy="247800"/>
            </a:xfrm>
          </p:grpSpPr>
          <p:sp>
            <p:nvSpPr>
              <p:cNvPr id="329" name="Google Shape;329;g40a0314b14e_0_2989"/>
              <p:cNvSpPr/>
              <p:nvPr/>
            </p:nvSpPr>
            <p:spPr>
              <a:xfrm>
                <a:off x="0" y="0"/>
                <a:ext cx="1619100" cy="247800"/>
              </a:xfrm>
              <a:prstGeom prst="roundRect">
                <a:avLst>
                  <a:gd fmla="val 50000" name="adj"/>
                </a:avLst>
              </a:prstGeom>
              <a:solidFill>
                <a:srgbClr val="F9731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g40a0314b14e_0_2989"/>
              <p:cNvSpPr txBox="1"/>
              <p:nvPr/>
            </p:nvSpPr>
            <p:spPr>
              <a:xfrm>
                <a:off x="0" y="0"/>
                <a:ext cx="1714500" cy="247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FFFFFF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RISK &amp; CHALLENGES</a:t>
                </a:r>
                <a:endParaRPr b="0" sz="900">
                  <a:solidFill>
                    <a:srgbClr val="FFFFFF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</p:grpSp>
        <p:grpSp>
          <p:nvGrpSpPr>
            <p:cNvPr id="331" name="Google Shape;331;g40a0314b14e_0_2989"/>
            <p:cNvGrpSpPr/>
            <p:nvPr/>
          </p:nvGrpSpPr>
          <p:grpSpPr>
            <a:xfrm>
              <a:off x="190500" y="495300"/>
              <a:ext cx="3162300" cy="857400"/>
              <a:chOff x="0" y="0"/>
              <a:chExt cx="3162300" cy="857400"/>
            </a:xfrm>
          </p:grpSpPr>
          <p:sp>
            <p:nvSpPr>
              <p:cNvPr id="332" name="Google Shape;332;g40a0314b14e_0_2989"/>
              <p:cNvSpPr/>
              <p:nvPr/>
            </p:nvSpPr>
            <p:spPr>
              <a:xfrm>
                <a:off x="0" y="0"/>
                <a:ext cx="3162300" cy="857400"/>
              </a:xfrm>
              <a:prstGeom prst="roundRect">
                <a:avLst>
                  <a:gd fmla="val 1111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ED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g40a0314b14e_0_2989"/>
              <p:cNvSpPr txBox="1"/>
              <p:nvPr/>
            </p:nvSpPr>
            <p:spPr>
              <a:xfrm>
                <a:off x="114300" y="57150"/>
                <a:ext cx="2933700" cy="7431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850">
                    <a:solidFill>
                      <a:srgbClr val="9A3412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RISK &amp; COMPLEXITY RADAR METRICS</a:t>
                </a:r>
                <a:endParaRPr b="0" sz="850">
                  <a:solidFill>
                    <a:srgbClr val="9A3412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700">
                    <a:solidFill>
                      <a:srgbClr val="334155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Telemetry Noise / GPS Drift </a:t>
                </a:r>
                <a:r>
                  <a:rPr b="1" lang="en-US" sz="700">
                    <a:solidFill>
                      <a:srgbClr val="EA580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MEDIUM (50%)</a:t>
                </a:r>
                <a:endParaRPr b="0" sz="700">
                  <a:solidFill>
                    <a:srgbClr val="334155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75"/>
                  </a:spcBef>
                  <a:spcAft>
                    <a:spcPts val="0"/>
                  </a:spcAft>
                  <a:buNone/>
                </a:pPr>
                <a:r>
                  <a:rPr b="0" lang="en-US" sz="700">
                    <a:solidFill>
                      <a:srgbClr val="334155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Traffic &amp; Monsoon Disruptions </a:t>
                </a:r>
                <a:r>
                  <a:rPr b="1" lang="en-US" sz="700">
                    <a:solidFill>
                      <a:srgbClr val="C2410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HIGH (85%)</a:t>
                </a:r>
                <a:endParaRPr b="0" sz="700">
                  <a:solidFill>
                    <a:srgbClr val="334155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75"/>
                  </a:spcBef>
                  <a:spcAft>
                    <a:spcPts val="75"/>
                  </a:spcAft>
                  <a:buNone/>
                </a:pPr>
                <a:r>
                  <a:rPr b="0" lang="en-US" sz="700">
                    <a:solidFill>
                      <a:srgbClr val="334155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Citywide State Scaling (250+ Buses) </a:t>
                </a:r>
                <a:r>
                  <a:rPr b="1" lang="en-US" sz="700">
                    <a:solidFill>
                      <a:srgbClr val="EA580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MODERATE (65%)</a:t>
                </a:r>
                <a:endParaRPr b="0" sz="700">
                  <a:solidFill>
                    <a:srgbClr val="334155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</p:grpSp>
        <p:grpSp>
          <p:nvGrpSpPr>
            <p:cNvPr id="334" name="Google Shape;334;g40a0314b14e_0_2989"/>
            <p:cNvGrpSpPr/>
            <p:nvPr/>
          </p:nvGrpSpPr>
          <p:grpSpPr>
            <a:xfrm>
              <a:off x="190500" y="1466850"/>
              <a:ext cx="3162300" cy="1047900"/>
              <a:chOff x="0" y="0"/>
              <a:chExt cx="3162300" cy="1047900"/>
            </a:xfrm>
          </p:grpSpPr>
          <p:sp>
            <p:nvSpPr>
              <p:cNvPr id="335" name="Google Shape;335;g40a0314b14e_0_2989"/>
              <p:cNvSpPr/>
              <p:nvPr/>
            </p:nvSpPr>
            <p:spPr>
              <a:xfrm>
                <a:off x="0" y="0"/>
                <a:ext cx="3162300" cy="1047900"/>
              </a:xfrm>
              <a:prstGeom prst="roundRect">
                <a:avLst>
                  <a:gd fmla="val 909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g40a0314b14e_0_2989"/>
              <p:cNvSpPr/>
              <p:nvPr/>
            </p:nvSpPr>
            <p:spPr>
              <a:xfrm>
                <a:off x="0" y="0"/>
                <a:ext cx="47700" cy="1047900"/>
              </a:xfrm>
              <a:prstGeom prst="roundRect">
                <a:avLst>
                  <a:gd fmla="val 40000" name="adj"/>
                </a:avLst>
              </a:prstGeom>
              <a:solidFill>
                <a:srgbClr val="F9731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g40a0314b14e_0_2989"/>
              <p:cNvSpPr txBox="1"/>
              <p:nvPr/>
            </p:nvSpPr>
            <p:spPr>
              <a:xfrm>
                <a:off x="171450" y="76200"/>
                <a:ext cx="2857500" cy="895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C2410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Simulated Telemetry Constraints</a:t>
                </a:r>
                <a:endParaRPr b="1" sz="1050">
                  <a:solidFill>
                    <a:srgbClr val="C2410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85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Raw GPS telemetry exhibits latency &amp; jitter; requires smoothing via map-matching algorithms.</a:t>
                </a:r>
                <a:endParaRPr b="0" sz="8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338" name="Google Shape;338;g40a0314b14e_0_2989"/>
            <p:cNvGrpSpPr/>
            <p:nvPr/>
          </p:nvGrpSpPr>
          <p:grpSpPr>
            <a:xfrm>
              <a:off x="190500" y="2609850"/>
              <a:ext cx="3162300" cy="1047900"/>
              <a:chOff x="0" y="0"/>
              <a:chExt cx="3162300" cy="1047900"/>
            </a:xfrm>
          </p:grpSpPr>
          <p:sp>
            <p:nvSpPr>
              <p:cNvPr id="339" name="Google Shape;339;g40a0314b14e_0_2989"/>
              <p:cNvSpPr/>
              <p:nvPr/>
            </p:nvSpPr>
            <p:spPr>
              <a:xfrm>
                <a:off x="0" y="0"/>
                <a:ext cx="3162300" cy="1047900"/>
              </a:xfrm>
              <a:prstGeom prst="roundRect">
                <a:avLst>
                  <a:gd fmla="val 909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g40a0314b14e_0_2989"/>
              <p:cNvSpPr/>
              <p:nvPr/>
            </p:nvSpPr>
            <p:spPr>
              <a:xfrm>
                <a:off x="0" y="0"/>
                <a:ext cx="47700" cy="1047900"/>
              </a:xfrm>
              <a:prstGeom prst="roundRect">
                <a:avLst>
                  <a:gd fmla="val 40000" name="adj"/>
                </a:avLst>
              </a:prstGeom>
              <a:solidFill>
                <a:srgbClr val="F9731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g40a0314b14e_0_2989"/>
              <p:cNvSpPr txBox="1"/>
              <p:nvPr/>
            </p:nvSpPr>
            <p:spPr>
              <a:xfrm>
                <a:off x="171450" y="76200"/>
                <a:ext cx="2857500" cy="895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C2410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Complex Traffic Realities</a:t>
                </a:r>
                <a:endParaRPr b="1" sz="1050">
                  <a:solidFill>
                    <a:srgbClr val="C2410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85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Monsoon waterlogging &amp; sudden road blockages reduce corridor speeds by ~30%.</a:t>
                </a:r>
                <a:endParaRPr b="0" sz="8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342" name="Google Shape;342;g40a0314b14e_0_2989"/>
            <p:cNvGrpSpPr/>
            <p:nvPr/>
          </p:nvGrpSpPr>
          <p:grpSpPr>
            <a:xfrm>
              <a:off x="190500" y="3752850"/>
              <a:ext cx="3162300" cy="1047900"/>
              <a:chOff x="0" y="0"/>
              <a:chExt cx="3162300" cy="1047900"/>
            </a:xfrm>
          </p:grpSpPr>
          <p:sp>
            <p:nvSpPr>
              <p:cNvPr id="343" name="Google Shape;343;g40a0314b14e_0_2989"/>
              <p:cNvSpPr/>
              <p:nvPr/>
            </p:nvSpPr>
            <p:spPr>
              <a:xfrm>
                <a:off x="0" y="0"/>
                <a:ext cx="3162300" cy="1047900"/>
              </a:xfrm>
              <a:prstGeom prst="roundRect">
                <a:avLst>
                  <a:gd fmla="val 909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g40a0314b14e_0_2989"/>
              <p:cNvSpPr/>
              <p:nvPr/>
            </p:nvSpPr>
            <p:spPr>
              <a:xfrm>
                <a:off x="0" y="0"/>
                <a:ext cx="47700" cy="1047900"/>
              </a:xfrm>
              <a:prstGeom prst="roundRect">
                <a:avLst>
                  <a:gd fmla="val 40000" name="adj"/>
                </a:avLst>
              </a:prstGeom>
              <a:solidFill>
                <a:srgbClr val="F9731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g40a0314b14e_0_2989"/>
              <p:cNvSpPr txBox="1"/>
              <p:nvPr/>
            </p:nvSpPr>
            <p:spPr>
              <a:xfrm>
                <a:off x="171450" y="76200"/>
                <a:ext cx="2857500" cy="895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C2410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Browser State Scale Limits</a:t>
                </a:r>
                <a:endParaRPr b="1" sz="1050">
                  <a:solidFill>
                    <a:srgbClr val="C2410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85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Simulating 250+ buses &amp; 140+ stations simultaneously can cause client UI re-render bottlenecks.</a:t>
                </a:r>
                <a:endParaRPr b="0" sz="8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grpSp>
        <p:nvGrpSpPr>
          <p:cNvPr id="346" name="Google Shape;346;g40a0314b14e_0_2989"/>
          <p:cNvGrpSpPr/>
          <p:nvPr/>
        </p:nvGrpSpPr>
        <p:grpSpPr>
          <a:xfrm>
            <a:off x="8191500" y="1190625"/>
            <a:ext cx="3543300" cy="5000700"/>
            <a:chOff x="0" y="0"/>
            <a:chExt cx="3543300" cy="5000700"/>
          </a:xfrm>
        </p:grpSpPr>
        <p:sp>
          <p:nvSpPr>
            <p:cNvPr id="347" name="Google Shape;347;g40a0314b14e_0_2989"/>
            <p:cNvSpPr/>
            <p:nvPr/>
          </p:nvSpPr>
          <p:spPr>
            <a:xfrm>
              <a:off x="0" y="0"/>
              <a:ext cx="3543300" cy="5000700"/>
            </a:xfrm>
            <a:prstGeom prst="roundRect">
              <a:avLst>
                <a:gd fmla="val 3763" name="adj"/>
              </a:avLst>
            </a:prstGeom>
            <a:solidFill>
              <a:srgbClr val="EEF2FF"/>
            </a:solidFill>
            <a:ln cap="flat" cmpd="sng" w="14300">
              <a:solidFill>
                <a:srgbClr val="C7D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g40a0314b14e_0_2989"/>
            <p:cNvSpPr/>
            <p:nvPr/>
          </p:nvSpPr>
          <p:spPr>
            <a:xfrm>
              <a:off x="0" y="0"/>
              <a:ext cx="3543300" cy="57300"/>
            </a:xfrm>
            <a:prstGeom prst="roundRect">
              <a:avLst>
                <a:gd fmla="val 50000" name="adj"/>
              </a:avLst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9" name="Google Shape;349;g40a0314b14e_0_2989"/>
            <p:cNvGrpSpPr/>
            <p:nvPr/>
          </p:nvGrpSpPr>
          <p:grpSpPr>
            <a:xfrm>
              <a:off x="190500" y="152400"/>
              <a:ext cx="1714500" cy="247800"/>
              <a:chOff x="0" y="0"/>
              <a:chExt cx="1714500" cy="247800"/>
            </a:xfrm>
          </p:grpSpPr>
          <p:sp>
            <p:nvSpPr>
              <p:cNvPr id="350" name="Google Shape;350;g40a0314b14e_0_2989"/>
              <p:cNvSpPr/>
              <p:nvPr/>
            </p:nvSpPr>
            <p:spPr>
              <a:xfrm>
                <a:off x="0" y="0"/>
                <a:ext cx="1619100" cy="247800"/>
              </a:xfrm>
              <a:prstGeom prst="roundRect">
                <a:avLst>
                  <a:gd fmla="val 50000" name="adj"/>
                </a:avLst>
              </a:prstGeom>
              <a:solidFill>
                <a:srgbClr val="6366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g40a0314b14e_0_2989"/>
              <p:cNvSpPr txBox="1"/>
              <p:nvPr/>
            </p:nvSpPr>
            <p:spPr>
              <a:xfrm>
                <a:off x="0" y="0"/>
                <a:ext cx="1714500" cy="247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FFFFFF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MITIGATION STRATEGIES</a:t>
                </a:r>
                <a:endParaRPr b="0" sz="900">
                  <a:solidFill>
                    <a:srgbClr val="FFFFFF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</p:grpSp>
        <p:grpSp>
          <p:nvGrpSpPr>
            <p:cNvPr id="352" name="Google Shape;352;g40a0314b14e_0_2989"/>
            <p:cNvGrpSpPr/>
            <p:nvPr/>
          </p:nvGrpSpPr>
          <p:grpSpPr>
            <a:xfrm>
              <a:off x="190500" y="495300"/>
              <a:ext cx="3162300" cy="857400"/>
              <a:chOff x="0" y="0"/>
              <a:chExt cx="3162300" cy="857400"/>
            </a:xfrm>
          </p:grpSpPr>
          <p:sp>
            <p:nvSpPr>
              <p:cNvPr id="353" name="Google Shape;353;g40a0314b14e_0_2989"/>
              <p:cNvSpPr/>
              <p:nvPr/>
            </p:nvSpPr>
            <p:spPr>
              <a:xfrm>
                <a:off x="0" y="0"/>
                <a:ext cx="3162300" cy="857400"/>
              </a:xfrm>
              <a:prstGeom prst="roundRect">
                <a:avLst>
                  <a:gd fmla="val 1111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7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54" name="Google Shape;354;g40a0314b14e_0_2989"/>
              <p:cNvGrpSpPr/>
              <p:nvPr/>
            </p:nvGrpSpPr>
            <p:grpSpPr>
              <a:xfrm>
                <a:off x="142875" y="190500"/>
                <a:ext cx="762000" cy="476400"/>
                <a:chOff x="0" y="0"/>
                <a:chExt cx="762000" cy="476400"/>
              </a:xfrm>
            </p:grpSpPr>
            <p:sp>
              <p:nvSpPr>
                <p:cNvPr id="355" name="Google Shape;355;g40a0314b14e_0_2989"/>
                <p:cNvSpPr/>
                <p:nvPr/>
              </p:nvSpPr>
              <p:spPr>
                <a:xfrm>
                  <a:off x="0" y="0"/>
                  <a:ext cx="762000" cy="476400"/>
                </a:xfrm>
                <a:prstGeom prst="roundRect">
                  <a:avLst>
                    <a:gd fmla="val 12000" name="adj"/>
                  </a:avLst>
                </a:prstGeom>
                <a:solidFill>
                  <a:srgbClr val="EEF2FF"/>
                </a:solidFill>
                <a:ln cap="flat" cmpd="sng" w="9525">
                  <a:solidFill>
                    <a:srgbClr val="C7D2FE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6" name="Google Shape;356;g40a0314b14e_0_2989"/>
                <p:cNvSpPr txBox="1"/>
                <p:nvPr/>
              </p:nvSpPr>
              <p:spPr>
                <a:xfrm>
                  <a:off x="0" y="0"/>
                  <a:ext cx="762000" cy="4764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750">
                      <a:solidFill>
                        <a:srgbClr val="1E1B4B"/>
                      </a:solidFill>
                      <a:latin typeface="Plus Jakarta Sans ExtraBold"/>
                      <a:ea typeface="Plus Jakarta Sans ExtraBold"/>
                      <a:cs typeface="Plus Jakarta Sans ExtraBold"/>
                      <a:sym typeface="Plus Jakarta Sans ExtraBold"/>
                    </a:rPr>
                    <a:t>1. Live Ingest</a:t>
                  </a:r>
                  <a:endParaRPr b="0" sz="750">
                    <a:solidFill>
                      <a:srgbClr val="1E1B4B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650">
                      <a:solidFill>
                        <a:srgbClr val="4F46E5"/>
                      </a:solidFill>
                      <a:latin typeface="Plus Jakarta Sans SemiBold"/>
                      <a:ea typeface="Plus Jakarta Sans SemiBold"/>
                      <a:cs typeface="Plus Jakarta Sans SemiBold"/>
                      <a:sym typeface="Plus Jakarta Sans SemiBold"/>
                    </a:rPr>
                    <a:t>AVL / AFC Stream</a:t>
                  </a:r>
                  <a:endParaRPr b="0" sz="650">
                    <a:solidFill>
                      <a:srgbClr val="4F46E5"/>
                    </a:solidFill>
                    <a:latin typeface="Plus Jakarta Sans SemiBold"/>
                    <a:ea typeface="Plus Jakarta Sans SemiBold"/>
                    <a:cs typeface="Plus Jakarta Sans SemiBold"/>
                    <a:sym typeface="Plus Jakarta Sans SemiBold"/>
                  </a:endParaRPr>
                </a:p>
              </p:txBody>
            </p:sp>
          </p:grpSp>
          <p:pic>
            <p:nvPicPr>
              <p:cNvPr id="357" name="Google Shape;357;g40a0314b14e_0_298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952500" y="419100"/>
                <a:ext cx="1716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8" name="Google Shape;358;g40a0314b14e_0_2989"/>
              <p:cNvSpPr/>
              <p:nvPr/>
            </p:nvSpPr>
            <p:spPr>
              <a:xfrm>
                <a:off x="1123950" y="390525"/>
                <a:ext cx="66600" cy="762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6366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59" name="Google Shape;359;g40a0314b14e_0_2989"/>
              <p:cNvGrpSpPr/>
              <p:nvPr/>
            </p:nvGrpSpPr>
            <p:grpSpPr>
              <a:xfrm>
                <a:off x="1200150" y="190500"/>
                <a:ext cx="762000" cy="476400"/>
                <a:chOff x="0" y="0"/>
                <a:chExt cx="762000" cy="476400"/>
              </a:xfrm>
            </p:grpSpPr>
            <p:sp>
              <p:nvSpPr>
                <p:cNvPr id="360" name="Google Shape;360;g40a0314b14e_0_2989"/>
                <p:cNvSpPr/>
                <p:nvPr/>
              </p:nvSpPr>
              <p:spPr>
                <a:xfrm>
                  <a:off x="0" y="0"/>
                  <a:ext cx="762000" cy="476400"/>
                </a:xfrm>
                <a:prstGeom prst="roundRect">
                  <a:avLst>
                    <a:gd fmla="val 12000" name="adj"/>
                  </a:avLst>
                </a:prstGeom>
                <a:solidFill>
                  <a:srgbClr val="EEF2FF"/>
                </a:solidFill>
                <a:ln cap="flat" cmpd="sng" w="9525">
                  <a:solidFill>
                    <a:srgbClr val="C7D2FE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1" name="Google Shape;361;g40a0314b14e_0_2989"/>
                <p:cNvSpPr txBox="1"/>
                <p:nvPr/>
              </p:nvSpPr>
              <p:spPr>
                <a:xfrm>
                  <a:off x="0" y="0"/>
                  <a:ext cx="762000" cy="4764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750">
                      <a:solidFill>
                        <a:srgbClr val="1E1B4B"/>
                      </a:solidFill>
                      <a:latin typeface="Plus Jakarta Sans ExtraBold"/>
                      <a:ea typeface="Plus Jakarta Sans ExtraBold"/>
                      <a:cs typeface="Plus Jakarta Sans ExtraBold"/>
                      <a:sym typeface="Plus Jakarta Sans ExtraBold"/>
                    </a:rPr>
                    <a:t>2. Scenario Lab</a:t>
                  </a:r>
                  <a:endParaRPr b="0" sz="750">
                    <a:solidFill>
                      <a:srgbClr val="1E1B4B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650">
                      <a:solidFill>
                        <a:srgbClr val="4F46E5"/>
                      </a:solidFill>
                      <a:latin typeface="Plus Jakarta Sans SemiBold"/>
                      <a:ea typeface="Plus Jakarta Sans SemiBold"/>
                      <a:cs typeface="Plus Jakarta Sans SemiBold"/>
                      <a:sym typeface="Plus Jakarta Sans SemiBold"/>
                    </a:rPr>
                    <a:t>Calibrated Modes</a:t>
                  </a:r>
                  <a:endParaRPr b="0" sz="650">
                    <a:solidFill>
                      <a:srgbClr val="4F46E5"/>
                    </a:solidFill>
                    <a:latin typeface="Plus Jakarta Sans SemiBold"/>
                    <a:ea typeface="Plus Jakarta Sans SemiBold"/>
                    <a:cs typeface="Plus Jakarta Sans SemiBold"/>
                    <a:sym typeface="Plus Jakarta Sans SemiBold"/>
                  </a:endParaRPr>
                </a:p>
              </p:txBody>
            </p:sp>
          </p:grpSp>
          <p:pic>
            <p:nvPicPr>
              <p:cNvPr id="362" name="Google Shape;362;g40a0314b14e_0_298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009775" y="419100"/>
                <a:ext cx="1716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3" name="Google Shape;363;g40a0314b14e_0_2989"/>
              <p:cNvSpPr/>
              <p:nvPr/>
            </p:nvSpPr>
            <p:spPr>
              <a:xfrm>
                <a:off x="2181225" y="390525"/>
                <a:ext cx="66600" cy="762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6366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64" name="Google Shape;364;g40a0314b14e_0_2989"/>
              <p:cNvGrpSpPr/>
              <p:nvPr/>
            </p:nvGrpSpPr>
            <p:grpSpPr>
              <a:xfrm>
                <a:off x="2257425" y="190500"/>
                <a:ext cx="762000" cy="476400"/>
                <a:chOff x="0" y="0"/>
                <a:chExt cx="762000" cy="476400"/>
              </a:xfrm>
            </p:grpSpPr>
            <p:sp>
              <p:nvSpPr>
                <p:cNvPr id="365" name="Google Shape;365;g40a0314b14e_0_2989"/>
                <p:cNvSpPr/>
                <p:nvPr/>
              </p:nvSpPr>
              <p:spPr>
                <a:xfrm>
                  <a:off x="0" y="0"/>
                  <a:ext cx="762000" cy="476400"/>
                </a:xfrm>
                <a:prstGeom prst="roundRect">
                  <a:avLst>
                    <a:gd fmla="val 12000" name="adj"/>
                  </a:avLst>
                </a:prstGeom>
                <a:solidFill>
                  <a:srgbClr val="6366F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6" name="Google Shape;366;g40a0314b14e_0_2989"/>
                <p:cNvSpPr txBox="1"/>
                <p:nvPr/>
              </p:nvSpPr>
              <p:spPr>
                <a:xfrm>
                  <a:off x="0" y="0"/>
                  <a:ext cx="762000" cy="4764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750">
                      <a:solidFill>
                        <a:srgbClr val="FFFFFF"/>
                      </a:solidFill>
                      <a:latin typeface="Plus Jakarta Sans ExtraBold"/>
                      <a:ea typeface="Plus Jakarta Sans ExtraBold"/>
                      <a:cs typeface="Plus Jakarta Sans ExtraBold"/>
                      <a:sym typeface="Plus Jakarta Sans ExtraBold"/>
                    </a:rPr>
                    <a:t>3. Production</a:t>
                  </a:r>
                  <a:endParaRPr b="0" sz="750">
                    <a:solidFill>
                      <a:srgbClr val="FFFFFF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650">
                      <a:solidFill>
                        <a:srgbClr val="E0E7FF"/>
                      </a:solidFill>
                      <a:latin typeface="Plus Jakarta Sans SemiBold"/>
                      <a:ea typeface="Plus Jakarta Sans SemiBold"/>
                      <a:cs typeface="Plus Jakarta Sans SemiBold"/>
                      <a:sym typeface="Plus Jakarta Sans SemiBold"/>
                    </a:rPr>
                    <a:t>Cloud Workers</a:t>
                  </a:r>
                  <a:endParaRPr b="0" sz="650">
                    <a:solidFill>
                      <a:srgbClr val="E0E7FF"/>
                    </a:solidFill>
                    <a:latin typeface="Plus Jakarta Sans SemiBold"/>
                    <a:ea typeface="Plus Jakarta Sans SemiBold"/>
                    <a:cs typeface="Plus Jakarta Sans SemiBold"/>
                    <a:sym typeface="Plus Jakarta Sans SemiBold"/>
                  </a:endParaRPr>
                </a:p>
              </p:txBody>
            </p:sp>
          </p:grpSp>
        </p:grpSp>
        <p:grpSp>
          <p:nvGrpSpPr>
            <p:cNvPr id="367" name="Google Shape;367;g40a0314b14e_0_2989"/>
            <p:cNvGrpSpPr/>
            <p:nvPr/>
          </p:nvGrpSpPr>
          <p:grpSpPr>
            <a:xfrm>
              <a:off x="190500" y="1466850"/>
              <a:ext cx="3162300" cy="1047900"/>
              <a:chOff x="0" y="0"/>
              <a:chExt cx="3162300" cy="1047900"/>
            </a:xfrm>
          </p:grpSpPr>
          <p:sp>
            <p:nvSpPr>
              <p:cNvPr id="368" name="Google Shape;368;g40a0314b14e_0_2989"/>
              <p:cNvSpPr/>
              <p:nvPr/>
            </p:nvSpPr>
            <p:spPr>
              <a:xfrm>
                <a:off x="0" y="0"/>
                <a:ext cx="3162300" cy="1047900"/>
              </a:xfrm>
              <a:prstGeom prst="roundRect">
                <a:avLst>
                  <a:gd fmla="val 909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g40a0314b14e_0_2989"/>
              <p:cNvSpPr/>
              <p:nvPr/>
            </p:nvSpPr>
            <p:spPr>
              <a:xfrm>
                <a:off x="0" y="0"/>
                <a:ext cx="47700" cy="1047900"/>
              </a:xfrm>
              <a:prstGeom prst="roundRect">
                <a:avLst>
                  <a:gd fmla="val 40000" name="adj"/>
                </a:avLst>
              </a:prstGeom>
              <a:solidFill>
                <a:srgbClr val="6366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g40a0314b14e_0_2989"/>
              <p:cNvSpPr txBox="1"/>
              <p:nvPr/>
            </p:nvSpPr>
            <p:spPr>
              <a:xfrm>
                <a:off x="171450" y="76200"/>
                <a:ext cx="2857500" cy="895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3730A3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Live Stream Integration</a:t>
                </a:r>
                <a:endParaRPr b="1" sz="1050">
                  <a:solidFill>
                    <a:srgbClr val="3730A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85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Connect directly to Ahmedabad Janmarg's server APIs for real-time GTFS-RT telemetry &amp; ticket taps.</a:t>
                </a:r>
                <a:endParaRPr b="0" sz="8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371" name="Google Shape;371;g40a0314b14e_0_2989"/>
            <p:cNvGrpSpPr/>
            <p:nvPr/>
          </p:nvGrpSpPr>
          <p:grpSpPr>
            <a:xfrm>
              <a:off x="190500" y="2609850"/>
              <a:ext cx="3162300" cy="1047900"/>
              <a:chOff x="0" y="0"/>
              <a:chExt cx="3162300" cy="1047900"/>
            </a:xfrm>
          </p:grpSpPr>
          <p:sp>
            <p:nvSpPr>
              <p:cNvPr id="372" name="Google Shape;372;g40a0314b14e_0_2989"/>
              <p:cNvSpPr/>
              <p:nvPr/>
            </p:nvSpPr>
            <p:spPr>
              <a:xfrm>
                <a:off x="0" y="0"/>
                <a:ext cx="3162300" cy="1047900"/>
              </a:xfrm>
              <a:prstGeom prst="roundRect">
                <a:avLst>
                  <a:gd fmla="val 909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g40a0314b14e_0_2989"/>
              <p:cNvSpPr/>
              <p:nvPr/>
            </p:nvSpPr>
            <p:spPr>
              <a:xfrm>
                <a:off x="0" y="0"/>
                <a:ext cx="47700" cy="1047900"/>
              </a:xfrm>
              <a:prstGeom prst="roundRect">
                <a:avLst>
                  <a:gd fmla="val 40000" name="adj"/>
                </a:avLst>
              </a:prstGeom>
              <a:solidFill>
                <a:srgbClr val="6366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g40a0314b14e_0_2989"/>
              <p:cNvSpPr txBox="1"/>
              <p:nvPr/>
            </p:nvSpPr>
            <p:spPr>
              <a:xfrm>
                <a:off x="171450" y="76200"/>
                <a:ext cx="2857500" cy="895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3730A3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Scenario Calibration</a:t>
                </a:r>
                <a:endParaRPr b="1" sz="1050">
                  <a:solidFill>
                    <a:srgbClr val="3730A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85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Pre-built stress-testing modes (Peak Surge, Station Closure, Monsoon Delay) tune dispatch logic.</a:t>
                </a:r>
                <a:endParaRPr b="0" sz="8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375" name="Google Shape;375;g40a0314b14e_0_2989"/>
            <p:cNvGrpSpPr/>
            <p:nvPr/>
          </p:nvGrpSpPr>
          <p:grpSpPr>
            <a:xfrm>
              <a:off x="190500" y="3752850"/>
              <a:ext cx="3162300" cy="1047900"/>
              <a:chOff x="0" y="0"/>
              <a:chExt cx="3162300" cy="1047900"/>
            </a:xfrm>
          </p:grpSpPr>
          <p:sp>
            <p:nvSpPr>
              <p:cNvPr id="376" name="Google Shape;376;g40a0314b14e_0_2989"/>
              <p:cNvSpPr/>
              <p:nvPr/>
            </p:nvSpPr>
            <p:spPr>
              <a:xfrm>
                <a:off x="0" y="0"/>
                <a:ext cx="3162300" cy="1047900"/>
              </a:xfrm>
              <a:prstGeom prst="roundRect">
                <a:avLst>
                  <a:gd fmla="val 909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g40a0314b14e_0_2989"/>
              <p:cNvSpPr/>
              <p:nvPr/>
            </p:nvSpPr>
            <p:spPr>
              <a:xfrm>
                <a:off x="0" y="0"/>
                <a:ext cx="47700" cy="1047900"/>
              </a:xfrm>
              <a:prstGeom prst="roundRect">
                <a:avLst>
                  <a:gd fmla="val 40000" name="adj"/>
                </a:avLst>
              </a:prstGeom>
              <a:solidFill>
                <a:srgbClr val="6366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g40a0314b14e_0_2989"/>
              <p:cNvSpPr txBox="1"/>
              <p:nvPr/>
            </p:nvSpPr>
            <p:spPr>
              <a:xfrm>
                <a:off x="171450" y="76200"/>
                <a:ext cx="2857500" cy="895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3730A3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Backend Cloud Scaling</a:t>
                </a:r>
                <a:endParaRPr b="1" sz="1050">
                  <a:solidFill>
                    <a:srgbClr val="3730A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85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Migrate graph routing &amp; optimization to cloud WebSockets, PostgreSQL/PostGIS &amp; worker threads.</a:t>
                </a:r>
                <a:endParaRPr b="0" sz="8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sp>
        <p:nvSpPr>
          <p:cNvPr descr="Your startup LOGO" id="379" name="Google Shape;379;g40a0314b14e_0_2989"/>
          <p:cNvSpPr/>
          <p:nvPr/>
        </p:nvSpPr>
        <p:spPr>
          <a:xfrm>
            <a:off x="329775" y="252250"/>
            <a:ext cx="14412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 Wizards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40a0314b14e_0_4248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40a0314b14e_0_424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387" name="Google Shape;387;g40a0314b14e_0_4248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88" name="Google Shape;388;g40a0314b14e_0_4248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389" name="Google Shape;389;g40a0314b14e_0_4248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0" name="Google Shape;390;g40a0314b14e_0_42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1" name="Google Shape;391;g40a0314b14e_0_4248"/>
          <p:cNvGrpSpPr/>
          <p:nvPr/>
        </p:nvGrpSpPr>
        <p:grpSpPr>
          <a:xfrm>
            <a:off x="457200" y="1190625"/>
            <a:ext cx="11277600" cy="1428900"/>
            <a:chOff x="457200" y="1190625"/>
            <a:chExt cx="11277600" cy="1428900"/>
          </a:xfrm>
        </p:grpSpPr>
        <p:grpSp>
          <p:nvGrpSpPr>
            <p:cNvPr id="392" name="Google Shape;392;g40a0314b14e_0_4248"/>
            <p:cNvGrpSpPr/>
            <p:nvPr/>
          </p:nvGrpSpPr>
          <p:grpSpPr>
            <a:xfrm>
              <a:off x="457200" y="1190625"/>
              <a:ext cx="3543300" cy="1428900"/>
              <a:chOff x="0" y="0"/>
              <a:chExt cx="3543300" cy="1428900"/>
            </a:xfrm>
          </p:grpSpPr>
          <p:sp>
            <p:nvSpPr>
              <p:cNvPr id="393" name="Google Shape;393;g40a0314b14e_0_4248"/>
              <p:cNvSpPr/>
              <p:nvPr/>
            </p:nvSpPr>
            <p:spPr>
              <a:xfrm>
                <a:off x="0" y="0"/>
                <a:ext cx="3543300" cy="1428900"/>
              </a:xfrm>
              <a:prstGeom prst="roundRect">
                <a:avLst>
                  <a:gd fmla="val 8000" name="adj"/>
                </a:avLst>
              </a:prstGeom>
              <a:solidFill>
                <a:srgbClr val="ECFDF5"/>
              </a:solidFill>
              <a:ln cap="flat" cmpd="sng" w="14300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g40a0314b14e_0_4248"/>
              <p:cNvSpPr txBox="1"/>
              <p:nvPr/>
            </p:nvSpPr>
            <p:spPr>
              <a:xfrm>
                <a:off x="190500" y="95250"/>
                <a:ext cx="2047800" cy="1238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600">
                    <a:solidFill>
                      <a:srgbClr val="059669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-35%</a:t>
                </a:r>
                <a:endParaRPr b="0" sz="2600">
                  <a:solidFill>
                    <a:srgbClr val="059669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10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065F46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PASSENGER WAIT TIME</a:t>
                </a:r>
                <a:endParaRPr b="1" sz="900">
                  <a:solidFill>
                    <a:srgbClr val="065F4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100"/>
                  </a:spcBef>
                  <a:spcAft>
                    <a:spcPts val="0"/>
                  </a:spcAft>
                  <a:buNone/>
                </a:pPr>
                <a:r>
                  <a:rPr b="0" lang="en-US" sz="750">
                    <a:solidFill>
                      <a:srgbClr val="047857"/>
                    </a:solidFill>
                    <a:latin typeface="Plus Jakarta Sans Medium"/>
                    <a:ea typeface="Plus Jakarta Sans Medium"/>
                    <a:cs typeface="Plus Jakarta Sans Medium"/>
                    <a:sym typeface="Plus Jakarta Sans Medium"/>
                  </a:rPr>
                  <a:t>Queue drop: 14m ➔ 9.1m (-4.9m/rider)</a:t>
                </a:r>
                <a:endParaRPr b="0" sz="750">
                  <a:solidFill>
                    <a:srgbClr val="047857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700">
                    <a:solidFill>
                      <a:srgbClr val="065F46"/>
                    </a:solidFill>
                    <a:highlight>
                      <a:srgbClr val="D1FAE5"/>
                    </a:highlight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Param: V_time = ₹2.5/min • W_saved = 4.9m</a:t>
                </a:r>
                <a:endParaRPr b="1" sz="700">
                  <a:solidFill>
                    <a:srgbClr val="065F46"/>
                  </a:solidFill>
                  <a:highlight>
                    <a:srgbClr val="D1FAE5"/>
                  </a:highlight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grpSp>
            <p:nvGrpSpPr>
              <p:cNvPr id="395" name="Google Shape;395;g40a0314b14e_0_4248"/>
              <p:cNvGrpSpPr/>
              <p:nvPr/>
            </p:nvGrpSpPr>
            <p:grpSpPr>
              <a:xfrm>
                <a:off x="2335225" y="348615"/>
                <a:ext cx="735296" cy="932925"/>
                <a:chOff x="49225" y="110490"/>
                <a:chExt cx="735296" cy="932925"/>
              </a:xfrm>
            </p:grpSpPr>
            <p:sp>
              <p:nvSpPr>
                <p:cNvPr id="396" name="Google Shape;396;g40a0314b14e_0_4248"/>
                <p:cNvSpPr txBox="1"/>
                <p:nvPr/>
              </p:nvSpPr>
              <p:spPr>
                <a:xfrm>
                  <a:off x="49225" y="110490"/>
                  <a:ext cx="282600" cy="12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600">
                      <a:solidFill>
                        <a:srgbClr val="64748B"/>
                      </a:solidFill>
                      <a:latin typeface="Plus Jakarta Sans"/>
                      <a:ea typeface="Plus Jakarta Sans"/>
                      <a:cs typeface="Plus Jakarta Sans"/>
                      <a:sym typeface="Plus Jakarta Sans"/>
                    </a:rPr>
                    <a:t>Before</a:t>
                  </a:r>
                  <a:endParaRPr b="1" sz="600">
                    <a:solidFill>
                      <a:srgbClr val="64748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</p:txBody>
            </p:sp>
            <p:sp>
              <p:nvSpPr>
                <p:cNvPr id="397" name="Google Shape;397;g40a0314b14e_0_4248"/>
                <p:cNvSpPr/>
                <p:nvPr/>
              </p:nvSpPr>
              <p:spPr>
                <a:xfrm>
                  <a:off x="76200" y="238125"/>
                  <a:ext cx="228600" cy="6192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CBD5E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8" name="Google Shape;398;g40a0314b14e_0_4248"/>
                <p:cNvSpPr txBox="1"/>
                <p:nvPr/>
              </p:nvSpPr>
              <p:spPr>
                <a:xfrm>
                  <a:off x="119863" y="920115"/>
                  <a:ext cx="141300" cy="12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555">
                      <a:solidFill>
                        <a:srgbClr val="64748B"/>
                      </a:solidFill>
                      <a:latin typeface="Plus Jakarta Sans"/>
                      <a:ea typeface="Plus Jakarta Sans"/>
                      <a:cs typeface="Plus Jakarta Sans"/>
                      <a:sym typeface="Plus Jakarta Sans"/>
                    </a:rPr>
                    <a:t>14m</a:t>
                  </a:r>
                  <a:endParaRPr b="1" sz="555">
                    <a:solidFill>
                      <a:srgbClr val="64748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</p:txBody>
            </p:sp>
            <p:sp>
              <p:nvSpPr>
                <p:cNvPr id="399" name="Google Shape;399;g40a0314b14e_0_4248"/>
                <p:cNvSpPr txBox="1"/>
                <p:nvPr/>
              </p:nvSpPr>
              <p:spPr>
                <a:xfrm>
                  <a:off x="549021" y="110490"/>
                  <a:ext cx="235500" cy="12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600">
                      <a:solidFill>
                        <a:srgbClr val="059669"/>
                      </a:solidFill>
                      <a:latin typeface="Plus Jakarta Sans"/>
                      <a:ea typeface="Plus Jakarta Sans"/>
                      <a:cs typeface="Plus Jakarta Sans"/>
                      <a:sym typeface="Plus Jakarta Sans"/>
                    </a:rPr>
                    <a:t>After</a:t>
                  </a:r>
                  <a:endParaRPr b="1" sz="600">
                    <a:solidFill>
                      <a:srgbClr val="0596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</p:txBody>
            </p:sp>
            <p:sp>
              <p:nvSpPr>
                <p:cNvPr id="400" name="Google Shape;400;g40a0314b14e_0_4248"/>
                <p:cNvSpPr/>
                <p:nvPr/>
              </p:nvSpPr>
              <p:spPr>
                <a:xfrm>
                  <a:off x="552450" y="428625"/>
                  <a:ext cx="228600" cy="4287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10B98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1" name="Google Shape;401;g40a0314b14e_0_4248"/>
                <p:cNvSpPr txBox="1"/>
                <p:nvPr/>
              </p:nvSpPr>
              <p:spPr>
                <a:xfrm>
                  <a:off x="572567" y="920115"/>
                  <a:ext cx="188400" cy="12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600">
                      <a:solidFill>
                        <a:srgbClr val="059669"/>
                      </a:solidFill>
                      <a:latin typeface="Plus Jakarta Sans ExtraBold"/>
                      <a:ea typeface="Plus Jakarta Sans ExtraBold"/>
                      <a:cs typeface="Plus Jakarta Sans ExtraBold"/>
                      <a:sym typeface="Plus Jakarta Sans ExtraBold"/>
                    </a:rPr>
                    <a:t>9.1m</a:t>
                  </a:r>
                  <a:endParaRPr b="0" sz="600">
                    <a:solidFill>
                      <a:srgbClr val="059669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endParaRPr>
                </a:p>
              </p:txBody>
            </p:sp>
          </p:grpSp>
        </p:grpSp>
        <p:grpSp>
          <p:nvGrpSpPr>
            <p:cNvPr id="402" name="Google Shape;402;g40a0314b14e_0_4248"/>
            <p:cNvGrpSpPr/>
            <p:nvPr/>
          </p:nvGrpSpPr>
          <p:grpSpPr>
            <a:xfrm>
              <a:off x="4324350" y="1190625"/>
              <a:ext cx="3543300" cy="1428900"/>
              <a:chOff x="0" y="0"/>
              <a:chExt cx="3543300" cy="1428900"/>
            </a:xfrm>
          </p:grpSpPr>
          <p:sp>
            <p:nvSpPr>
              <p:cNvPr id="403" name="Google Shape;403;g40a0314b14e_0_4248"/>
              <p:cNvSpPr/>
              <p:nvPr/>
            </p:nvSpPr>
            <p:spPr>
              <a:xfrm>
                <a:off x="0" y="0"/>
                <a:ext cx="3543300" cy="1428900"/>
              </a:xfrm>
              <a:prstGeom prst="roundRect">
                <a:avLst>
                  <a:gd fmla="val 8000" name="adj"/>
                </a:avLst>
              </a:prstGeom>
              <a:solidFill>
                <a:srgbClr val="FFF7ED"/>
              </a:solidFill>
              <a:ln cap="flat" cmpd="sng" w="14300">
                <a:solidFill>
                  <a:srgbClr val="FED7A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g40a0314b14e_0_4248"/>
              <p:cNvSpPr txBox="1"/>
              <p:nvPr/>
            </p:nvSpPr>
            <p:spPr>
              <a:xfrm>
                <a:off x="190500" y="95250"/>
                <a:ext cx="2047800" cy="1238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600">
                    <a:solidFill>
                      <a:srgbClr val="EA580C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+28%</a:t>
                </a:r>
                <a:endParaRPr b="0" sz="2600">
                  <a:solidFill>
                    <a:srgbClr val="EA580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10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9A3412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FLEET UTILIZATION (PLF)</a:t>
                </a:r>
                <a:endParaRPr b="1" sz="900">
                  <a:solidFill>
                    <a:srgbClr val="9A341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100"/>
                  </a:spcBef>
                  <a:spcAft>
                    <a:spcPts val="0"/>
                  </a:spcAft>
                  <a:buNone/>
                </a:pPr>
                <a:r>
                  <a:rPr b="0" lang="en-US" sz="750">
                    <a:solidFill>
                      <a:srgbClr val="C2410C"/>
                    </a:solidFill>
                    <a:latin typeface="Plus Jakarta Sans Medium"/>
                    <a:ea typeface="Plus Jakarta Sans Medium"/>
                    <a:cs typeface="Plus Jakarta Sans Medium"/>
                    <a:sym typeface="Plus Jakarta Sans Medium"/>
                  </a:rPr>
                  <a:t>Balanced 250+ buses up to 80% PLF</a:t>
                </a:r>
                <a:endParaRPr b="0" sz="750">
                  <a:solidFill>
                    <a:srgbClr val="C2410C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700">
                    <a:solidFill>
                      <a:srgbClr val="9A3412"/>
                    </a:solidFill>
                    <a:highlight>
                      <a:srgbClr val="FFEDD5"/>
                    </a:highlight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Limits: Overload &gt;85% • Low &lt;30% PLF</a:t>
                </a:r>
                <a:endParaRPr b="1" sz="700">
                  <a:solidFill>
                    <a:srgbClr val="9A3412"/>
                  </a:solidFill>
                  <a:highlight>
                    <a:srgbClr val="FFEDD5"/>
                  </a:highlight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grpSp>
            <p:nvGrpSpPr>
              <p:cNvPr id="405" name="Google Shape;405;g40a0314b14e_0_4248"/>
              <p:cNvGrpSpPr/>
              <p:nvPr/>
            </p:nvGrpSpPr>
            <p:grpSpPr>
              <a:xfrm>
                <a:off x="2305050" y="257175"/>
                <a:ext cx="914400" cy="914400"/>
                <a:chOff x="-457200" y="-457200"/>
                <a:chExt cx="914400" cy="914400"/>
              </a:xfrm>
            </p:grpSpPr>
            <p:sp>
              <p:nvSpPr>
                <p:cNvPr id="406" name="Google Shape;406;g40a0314b14e_0_4248"/>
                <p:cNvSpPr/>
                <p:nvPr/>
              </p:nvSpPr>
              <p:spPr>
                <a:xfrm>
                  <a:off x="-400050" y="-400050"/>
                  <a:ext cx="800100" cy="800100"/>
                </a:xfrm>
                <a:prstGeom prst="ellipse">
                  <a:avLst/>
                </a:prstGeom>
                <a:solidFill>
                  <a:srgbClr val="000000">
                    <a:alpha val="0"/>
                  </a:srgbClr>
                </a:solidFill>
                <a:ln cap="flat" cmpd="sng" w="114300">
                  <a:solidFill>
                    <a:srgbClr val="FFEDD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407" name="Google Shape;407;g40a0314b14e_0_424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-457200" y="-457200"/>
                  <a:ext cx="914400" cy="9144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08" name="Google Shape;408;g40a0314b14e_0_4248"/>
                <p:cNvSpPr txBox="1"/>
                <p:nvPr/>
              </p:nvSpPr>
              <p:spPr>
                <a:xfrm>
                  <a:off x="-97126" y="-36195"/>
                  <a:ext cx="194400" cy="169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578">
                      <a:solidFill>
                        <a:srgbClr val="EA580C"/>
                      </a:solidFill>
                      <a:latin typeface="Plus Jakarta Sans ExtraBold"/>
                      <a:ea typeface="Plus Jakarta Sans ExtraBold"/>
                      <a:cs typeface="Plus Jakarta Sans ExtraBold"/>
                      <a:sym typeface="Plus Jakarta Sans ExtraBold"/>
                    </a:rPr>
                    <a:t>80%</a:t>
                  </a:r>
                  <a:endParaRPr b="0" sz="578">
                    <a:solidFill>
                      <a:srgbClr val="EA580C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endParaRPr>
                </a:p>
              </p:txBody>
            </p:sp>
          </p:grpSp>
        </p:grpSp>
        <p:grpSp>
          <p:nvGrpSpPr>
            <p:cNvPr id="409" name="Google Shape;409;g40a0314b14e_0_4248"/>
            <p:cNvGrpSpPr/>
            <p:nvPr/>
          </p:nvGrpSpPr>
          <p:grpSpPr>
            <a:xfrm>
              <a:off x="8191500" y="1190625"/>
              <a:ext cx="3543300" cy="1428900"/>
              <a:chOff x="0" y="0"/>
              <a:chExt cx="3543300" cy="1428900"/>
            </a:xfrm>
          </p:grpSpPr>
          <p:sp>
            <p:nvSpPr>
              <p:cNvPr id="410" name="Google Shape;410;g40a0314b14e_0_4248"/>
              <p:cNvSpPr/>
              <p:nvPr/>
            </p:nvSpPr>
            <p:spPr>
              <a:xfrm>
                <a:off x="0" y="0"/>
                <a:ext cx="3543300" cy="1428900"/>
              </a:xfrm>
              <a:prstGeom prst="roundRect">
                <a:avLst>
                  <a:gd fmla="val 8000" name="adj"/>
                </a:avLst>
              </a:prstGeom>
              <a:solidFill>
                <a:srgbClr val="EFF6FF"/>
              </a:solidFill>
              <a:ln cap="flat" cmpd="sng" w="14300">
                <a:solidFill>
                  <a:srgbClr val="BFDB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g40a0314b14e_0_4248"/>
              <p:cNvSpPr txBox="1"/>
              <p:nvPr/>
            </p:nvSpPr>
            <p:spPr>
              <a:xfrm>
                <a:off x="190500" y="95250"/>
                <a:ext cx="2047800" cy="1238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600">
                    <a:solidFill>
                      <a:srgbClr val="2563EB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-22%</a:t>
                </a:r>
                <a:endParaRPr b="0" sz="2600">
                  <a:solidFill>
                    <a:srgbClr val="2563EB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10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1E40A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DEADHEAD FUEL &amp; COSTS</a:t>
                </a:r>
                <a:endParaRPr b="1" sz="900">
                  <a:solidFill>
                    <a:srgbClr val="1E40A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100"/>
                  </a:spcBef>
                  <a:spcAft>
                    <a:spcPts val="0"/>
                  </a:spcAft>
                  <a:buNone/>
                </a:pPr>
                <a:r>
                  <a:rPr b="0" lang="en-US" sz="750">
                    <a:solidFill>
                      <a:srgbClr val="1D4ED8"/>
                    </a:solidFill>
                    <a:latin typeface="Plus Jakarta Sans Medium"/>
                    <a:ea typeface="Plus Jakarta Sans Medium"/>
                    <a:cs typeface="Plus Jakarta Sans Medium"/>
                    <a:sym typeface="Plus Jakarta Sans Medium"/>
                  </a:rPr>
                  <a:t>~4.8L fuel saved • ₹4,820 net savings</a:t>
                </a:r>
                <a:endParaRPr b="0" sz="750">
                  <a:solidFill>
                    <a:srgbClr val="1D4ED8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700">
                    <a:solidFill>
                      <a:srgbClr val="1E40AF"/>
                    </a:solidFill>
                    <a:highlight>
                      <a:srgbClr val="DBEAFE"/>
                    </a:highlight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Costs: C_deadhead = ₹450 • D_delay = ₹320</a:t>
                </a:r>
                <a:endParaRPr b="1" sz="700">
                  <a:solidFill>
                    <a:srgbClr val="1E40AF"/>
                  </a:solidFill>
                  <a:highlight>
                    <a:srgbClr val="DBEAFE"/>
                  </a:highlight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grpSp>
            <p:nvGrpSpPr>
              <p:cNvPr id="412" name="Google Shape;412;g40a0314b14e_0_4248"/>
              <p:cNvGrpSpPr/>
              <p:nvPr/>
            </p:nvGrpSpPr>
            <p:grpSpPr>
              <a:xfrm>
                <a:off x="2362200" y="348615"/>
                <a:ext cx="704850" cy="932925"/>
                <a:chOff x="76200" y="110490"/>
                <a:chExt cx="704850" cy="932925"/>
              </a:xfrm>
            </p:grpSpPr>
            <p:sp>
              <p:nvSpPr>
                <p:cNvPr id="413" name="Google Shape;413;g40a0314b14e_0_4248"/>
                <p:cNvSpPr txBox="1"/>
                <p:nvPr/>
              </p:nvSpPr>
              <p:spPr>
                <a:xfrm>
                  <a:off x="96317" y="110490"/>
                  <a:ext cx="188400" cy="12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600">
                      <a:solidFill>
                        <a:srgbClr val="64748B"/>
                      </a:solidFill>
                      <a:latin typeface="Plus Jakarta Sans"/>
                      <a:ea typeface="Plus Jakarta Sans"/>
                      <a:cs typeface="Plus Jakarta Sans"/>
                      <a:sym typeface="Plus Jakarta Sans"/>
                    </a:rPr>
                    <a:t>Base</a:t>
                  </a:r>
                  <a:endParaRPr b="1" sz="600">
                    <a:solidFill>
                      <a:srgbClr val="64748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</p:txBody>
            </p:sp>
            <p:sp>
              <p:nvSpPr>
                <p:cNvPr id="414" name="Google Shape;414;g40a0314b14e_0_4248"/>
                <p:cNvSpPr/>
                <p:nvPr/>
              </p:nvSpPr>
              <p:spPr>
                <a:xfrm>
                  <a:off x="76200" y="238125"/>
                  <a:ext cx="228600" cy="6192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CBD5E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5" name="Google Shape;415;g40a0314b14e_0_4248"/>
                <p:cNvSpPr txBox="1"/>
                <p:nvPr/>
              </p:nvSpPr>
              <p:spPr>
                <a:xfrm>
                  <a:off x="96317" y="920115"/>
                  <a:ext cx="188400" cy="12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510">
                      <a:solidFill>
                        <a:srgbClr val="64748B"/>
                      </a:solidFill>
                      <a:latin typeface="Plus Jakarta Sans"/>
                      <a:ea typeface="Plus Jakarta Sans"/>
                      <a:cs typeface="Plus Jakarta Sans"/>
                      <a:sym typeface="Plus Jakarta Sans"/>
                    </a:rPr>
                    <a:t>100%</a:t>
                  </a:r>
                  <a:endParaRPr b="1" sz="510">
                    <a:solidFill>
                      <a:srgbClr val="64748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</p:txBody>
            </p:sp>
            <p:sp>
              <p:nvSpPr>
                <p:cNvPr id="416" name="Google Shape;416;g40a0314b14e_0_4248"/>
                <p:cNvSpPr txBox="1"/>
                <p:nvPr/>
              </p:nvSpPr>
              <p:spPr>
                <a:xfrm>
                  <a:off x="596113" y="110490"/>
                  <a:ext cx="141300" cy="12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555">
                      <a:solidFill>
                        <a:srgbClr val="2563EB"/>
                      </a:solidFill>
                      <a:latin typeface="Plus Jakarta Sans"/>
                      <a:ea typeface="Plus Jakarta Sans"/>
                      <a:cs typeface="Plus Jakarta Sans"/>
                      <a:sym typeface="Plus Jakarta Sans"/>
                    </a:rPr>
                    <a:t>Opt</a:t>
                  </a:r>
                  <a:endParaRPr b="1" sz="555">
                    <a:solidFill>
                      <a:srgbClr val="2563E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</p:txBody>
            </p:sp>
            <p:sp>
              <p:nvSpPr>
                <p:cNvPr id="417" name="Google Shape;417;g40a0314b14e_0_4248"/>
                <p:cNvSpPr/>
                <p:nvPr/>
              </p:nvSpPr>
              <p:spPr>
                <a:xfrm>
                  <a:off x="552450" y="371475"/>
                  <a:ext cx="228600" cy="4857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3B82F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8" name="Google Shape;418;g40a0314b14e_0_4248"/>
                <p:cNvSpPr txBox="1"/>
                <p:nvPr/>
              </p:nvSpPr>
              <p:spPr>
                <a:xfrm>
                  <a:off x="596113" y="920115"/>
                  <a:ext cx="141300" cy="12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465">
                      <a:solidFill>
                        <a:srgbClr val="2563EB"/>
                      </a:solidFill>
                      <a:latin typeface="Plus Jakarta Sans ExtraBold"/>
                      <a:ea typeface="Plus Jakarta Sans ExtraBold"/>
                      <a:cs typeface="Plus Jakarta Sans ExtraBold"/>
                      <a:sym typeface="Plus Jakarta Sans ExtraBold"/>
                    </a:rPr>
                    <a:t>78%</a:t>
                  </a:r>
                  <a:endParaRPr b="0" sz="465">
                    <a:solidFill>
                      <a:srgbClr val="2563EB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endParaRPr>
                </a:p>
              </p:txBody>
            </p:sp>
          </p:grpSp>
        </p:grpSp>
      </p:grpSp>
      <p:grpSp>
        <p:nvGrpSpPr>
          <p:cNvPr id="419" name="Google Shape;419;g40a0314b14e_0_4248"/>
          <p:cNvGrpSpPr/>
          <p:nvPr/>
        </p:nvGrpSpPr>
        <p:grpSpPr>
          <a:xfrm>
            <a:off x="457200" y="2809875"/>
            <a:ext cx="11277750" cy="3333900"/>
            <a:chOff x="457200" y="2809875"/>
            <a:chExt cx="11277750" cy="3333900"/>
          </a:xfrm>
        </p:grpSpPr>
        <p:grpSp>
          <p:nvGrpSpPr>
            <p:cNvPr id="420" name="Google Shape;420;g40a0314b14e_0_4248"/>
            <p:cNvGrpSpPr/>
            <p:nvPr/>
          </p:nvGrpSpPr>
          <p:grpSpPr>
            <a:xfrm>
              <a:off x="457200" y="2809875"/>
              <a:ext cx="5505600" cy="3333900"/>
              <a:chOff x="0" y="0"/>
              <a:chExt cx="5505600" cy="3333900"/>
            </a:xfrm>
          </p:grpSpPr>
          <p:sp>
            <p:nvSpPr>
              <p:cNvPr id="421" name="Google Shape;421;g40a0314b14e_0_4248"/>
              <p:cNvSpPr/>
              <p:nvPr/>
            </p:nvSpPr>
            <p:spPr>
              <a:xfrm>
                <a:off x="0" y="0"/>
                <a:ext cx="5505600" cy="3333900"/>
              </a:xfrm>
              <a:prstGeom prst="roundRect">
                <a:avLst>
                  <a:gd fmla="val 4000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g40a0314b14e_0_4248"/>
              <p:cNvSpPr/>
              <p:nvPr/>
            </p:nvSpPr>
            <p:spPr>
              <a:xfrm>
                <a:off x="0" y="0"/>
                <a:ext cx="55056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F9731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g40a0314b14e_0_4248"/>
              <p:cNvSpPr txBox="1"/>
              <p:nvPr/>
            </p:nvSpPr>
            <p:spPr>
              <a:xfrm>
                <a:off x="228600" y="152400"/>
                <a:ext cx="5048400" cy="304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400">
                    <a:solidFill>
                      <a:srgbClr val="F97316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👥 Target Audience Operational Impact</a:t>
                </a:r>
                <a:endParaRPr b="0" sz="1400">
                  <a:solidFill>
                    <a:srgbClr val="F97316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  <p:grpSp>
            <p:nvGrpSpPr>
              <p:cNvPr id="424" name="Google Shape;424;g40a0314b14e_0_4248"/>
              <p:cNvGrpSpPr/>
              <p:nvPr/>
            </p:nvGrpSpPr>
            <p:grpSpPr>
              <a:xfrm>
                <a:off x="228600" y="590550"/>
                <a:ext cx="5048400" cy="762000"/>
                <a:chOff x="0" y="0"/>
                <a:chExt cx="5048400" cy="762000"/>
              </a:xfrm>
            </p:grpSpPr>
            <p:sp>
              <p:nvSpPr>
                <p:cNvPr id="425" name="Google Shape;425;g40a0314b14e_0_4248"/>
                <p:cNvSpPr/>
                <p:nvPr/>
              </p:nvSpPr>
              <p:spPr>
                <a:xfrm>
                  <a:off x="0" y="0"/>
                  <a:ext cx="5048400" cy="7620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6" name="Google Shape;426;g40a0314b14e_0_4248"/>
                <p:cNvSpPr/>
                <p:nvPr/>
              </p:nvSpPr>
              <p:spPr>
                <a:xfrm>
                  <a:off x="0" y="0"/>
                  <a:ext cx="47700" cy="762000"/>
                </a:xfrm>
                <a:prstGeom prst="roundRect">
                  <a:avLst>
                    <a:gd fmla="val 40000" name="adj"/>
                  </a:avLst>
                </a:prstGeom>
                <a:solidFill>
                  <a:srgbClr val="F9731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7" name="Google Shape;427;g40a0314b14e_0_4248"/>
                <p:cNvSpPr txBox="1"/>
                <p:nvPr/>
              </p:nvSpPr>
              <p:spPr>
                <a:xfrm>
                  <a:off x="171450" y="76200"/>
                  <a:ext cx="4705200" cy="6096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050">
                      <a:solidFill>
                        <a:srgbClr val="0F172A"/>
                      </a:solidFill>
                      <a:latin typeface="Plus Jakarta Sans"/>
                      <a:ea typeface="Plus Jakarta Sans"/>
                      <a:cs typeface="Plus Jakarta Sans"/>
                      <a:sym typeface="Plus Jakarta Sans"/>
                    </a:rPr>
                    <a:t>Control Room Operators</a:t>
                  </a:r>
                  <a:endParaRPr b="1" sz="105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  <a:p>
                  <a:pPr indent="0" lvl="0" marL="0" rtl="0" algn="l">
                    <a:spcBef>
                      <a:spcPts val="200"/>
                    </a:spcBef>
                    <a:spcAft>
                      <a:spcPts val="0"/>
                    </a:spcAft>
                    <a:buNone/>
                  </a:pPr>
                  <a:r>
                    <a:rPr b="0" lang="en-US" sz="850">
                      <a:solidFill>
                        <a:srgbClr val="475569"/>
                      </a:solidFill>
                      <a:latin typeface="Plus Jakarta Sans"/>
                      <a:ea typeface="Plus Jakarta Sans"/>
                      <a:cs typeface="Plus Jakarta Sans"/>
                      <a:sym typeface="Plus Jakarta Sans"/>
                    </a:rPr>
                    <a:t>Single pane of glass for real-time load balancing, 2.5s telemetry sync &amp; &lt;5s auto-dispatch approval.</a:t>
                  </a:r>
                  <a:endParaRPr b="0" sz="85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</p:txBody>
            </p:sp>
          </p:grpSp>
          <p:grpSp>
            <p:nvGrpSpPr>
              <p:cNvPr id="428" name="Google Shape;428;g40a0314b14e_0_4248"/>
              <p:cNvGrpSpPr/>
              <p:nvPr/>
            </p:nvGrpSpPr>
            <p:grpSpPr>
              <a:xfrm>
                <a:off x="228600" y="1447800"/>
                <a:ext cx="5048400" cy="762000"/>
                <a:chOff x="0" y="0"/>
                <a:chExt cx="5048400" cy="762000"/>
              </a:xfrm>
            </p:grpSpPr>
            <p:sp>
              <p:nvSpPr>
                <p:cNvPr id="429" name="Google Shape;429;g40a0314b14e_0_4248"/>
                <p:cNvSpPr/>
                <p:nvPr/>
              </p:nvSpPr>
              <p:spPr>
                <a:xfrm>
                  <a:off x="0" y="0"/>
                  <a:ext cx="5048400" cy="7620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" name="Google Shape;430;g40a0314b14e_0_4248"/>
                <p:cNvSpPr/>
                <p:nvPr/>
              </p:nvSpPr>
              <p:spPr>
                <a:xfrm>
                  <a:off x="0" y="0"/>
                  <a:ext cx="47700" cy="762000"/>
                </a:xfrm>
                <a:prstGeom prst="roundRect">
                  <a:avLst>
                    <a:gd fmla="val 40000" name="adj"/>
                  </a:avLst>
                </a:prstGeom>
                <a:solidFill>
                  <a:srgbClr val="F9731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1" name="Google Shape;431;g40a0314b14e_0_4248"/>
                <p:cNvSpPr txBox="1"/>
                <p:nvPr/>
              </p:nvSpPr>
              <p:spPr>
                <a:xfrm>
                  <a:off x="171450" y="76200"/>
                  <a:ext cx="4705200" cy="6096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050">
                      <a:solidFill>
                        <a:srgbClr val="0F172A"/>
                      </a:solidFill>
                      <a:latin typeface="Plus Jakarta Sans"/>
                      <a:ea typeface="Plus Jakarta Sans"/>
                      <a:cs typeface="Plus Jakarta Sans"/>
                      <a:sym typeface="Plus Jakarta Sans"/>
                    </a:rPr>
                    <a:t>Bus Drivers</a:t>
                  </a:r>
                  <a:endParaRPr b="1" sz="105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  <a:p>
                  <a:pPr indent="0" lvl="0" marL="0" rtl="0" algn="l">
                    <a:spcBef>
                      <a:spcPts val="200"/>
                    </a:spcBef>
                    <a:spcAft>
                      <a:spcPts val="0"/>
                    </a:spcAft>
                    <a:buNone/>
                  </a:pPr>
                  <a:r>
                    <a:rPr b="0" lang="en-US" sz="850">
                      <a:solidFill>
                        <a:srgbClr val="475569"/>
                      </a:solidFill>
                      <a:latin typeface="Plus Jakarta Sans"/>
                      <a:ea typeface="Plus Jakarta Sans"/>
                      <a:cs typeface="Plus Jakarta Sans"/>
                      <a:sym typeface="Plus Jakarta Sans"/>
                    </a:rPr>
                    <a:t>Clear audio-visual turn-by-turn diversion HUD with instant Web Audio chime reroute directives.</a:t>
                  </a:r>
                  <a:endParaRPr b="0" sz="85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</p:txBody>
            </p:sp>
          </p:grpSp>
          <p:grpSp>
            <p:nvGrpSpPr>
              <p:cNvPr id="432" name="Google Shape;432;g40a0314b14e_0_4248"/>
              <p:cNvGrpSpPr/>
              <p:nvPr/>
            </p:nvGrpSpPr>
            <p:grpSpPr>
              <a:xfrm>
                <a:off x="228600" y="2305050"/>
                <a:ext cx="5048400" cy="762000"/>
                <a:chOff x="0" y="0"/>
                <a:chExt cx="5048400" cy="762000"/>
              </a:xfrm>
            </p:grpSpPr>
            <p:sp>
              <p:nvSpPr>
                <p:cNvPr id="433" name="Google Shape;433;g40a0314b14e_0_4248"/>
                <p:cNvSpPr/>
                <p:nvPr/>
              </p:nvSpPr>
              <p:spPr>
                <a:xfrm>
                  <a:off x="0" y="0"/>
                  <a:ext cx="5048400" cy="7620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4" name="Google Shape;434;g40a0314b14e_0_4248"/>
                <p:cNvSpPr/>
                <p:nvPr/>
              </p:nvSpPr>
              <p:spPr>
                <a:xfrm>
                  <a:off x="0" y="0"/>
                  <a:ext cx="47700" cy="762000"/>
                </a:xfrm>
                <a:prstGeom prst="roundRect">
                  <a:avLst>
                    <a:gd fmla="val 40000" name="adj"/>
                  </a:avLst>
                </a:prstGeom>
                <a:solidFill>
                  <a:srgbClr val="F9731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5" name="Google Shape;435;g40a0314b14e_0_4248"/>
                <p:cNvSpPr txBox="1"/>
                <p:nvPr/>
              </p:nvSpPr>
              <p:spPr>
                <a:xfrm>
                  <a:off x="171450" y="76200"/>
                  <a:ext cx="4705200" cy="6096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050">
                      <a:solidFill>
                        <a:srgbClr val="0F172A"/>
                      </a:solidFill>
                      <a:latin typeface="Plus Jakarta Sans"/>
                      <a:ea typeface="Plus Jakarta Sans"/>
                      <a:cs typeface="Plus Jakarta Sans"/>
                      <a:sym typeface="Plus Jakarta Sans"/>
                    </a:rPr>
                    <a:t>Commuters</a:t>
                  </a:r>
                  <a:endParaRPr b="1" sz="105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  <a:p>
                  <a:pPr indent="0" lvl="0" marL="0" rtl="0" algn="l">
                    <a:spcBef>
                      <a:spcPts val="200"/>
                    </a:spcBef>
                    <a:spcAft>
                      <a:spcPts val="0"/>
                    </a:spcAft>
                    <a:buNone/>
                  </a:pPr>
                  <a:r>
                    <a:rPr b="0" lang="en-US" sz="850">
                      <a:solidFill>
                        <a:srgbClr val="475569"/>
                      </a:solidFill>
                      <a:latin typeface="Plus Jakarta Sans"/>
                      <a:ea typeface="Plus Jakarta Sans"/>
                      <a:cs typeface="Plus Jakarta Sans"/>
                      <a:sym typeface="Plus Jakarta Sans"/>
                    </a:rPr>
                    <a:t>Real-time station crowdedness awareness, -35% wait times, and smart transfer route guidance.</a:t>
                  </a:r>
                  <a:endParaRPr b="0" sz="85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</p:txBody>
            </p:sp>
          </p:grpSp>
        </p:grpSp>
        <p:grpSp>
          <p:nvGrpSpPr>
            <p:cNvPr id="436" name="Google Shape;436;g40a0314b14e_0_4248"/>
            <p:cNvGrpSpPr/>
            <p:nvPr/>
          </p:nvGrpSpPr>
          <p:grpSpPr>
            <a:xfrm>
              <a:off x="6229350" y="2809875"/>
              <a:ext cx="5505600" cy="3333900"/>
              <a:chOff x="0" y="0"/>
              <a:chExt cx="5505600" cy="3333900"/>
            </a:xfrm>
          </p:grpSpPr>
          <p:sp>
            <p:nvSpPr>
              <p:cNvPr id="437" name="Google Shape;437;g40a0314b14e_0_4248"/>
              <p:cNvSpPr/>
              <p:nvPr/>
            </p:nvSpPr>
            <p:spPr>
              <a:xfrm>
                <a:off x="0" y="0"/>
                <a:ext cx="5505600" cy="3333900"/>
              </a:xfrm>
              <a:prstGeom prst="roundRect">
                <a:avLst>
                  <a:gd fmla="val 4000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g40a0314b14e_0_4248"/>
              <p:cNvSpPr/>
              <p:nvPr/>
            </p:nvSpPr>
            <p:spPr>
              <a:xfrm>
                <a:off x="0" y="0"/>
                <a:ext cx="55056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g40a0314b14e_0_4248"/>
              <p:cNvSpPr txBox="1"/>
              <p:nvPr/>
            </p:nvSpPr>
            <p:spPr>
              <a:xfrm>
                <a:off x="228600" y="152400"/>
                <a:ext cx="5048400" cy="304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400">
                    <a:solidFill>
                      <a:srgbClr val="10B981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⚙️ DPR Calculation Model &amp; Impact Parameters</a:t>
                </a:r>
                <a:endParaRPr b="0" sz="1400">
                  <a:solidFill>
                    <a:srgbClr val="10B981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  <p:grpSp>
            <p:nvGrpSpPr>
              <p:cNvPr id="440" name="Google Shape;440;g40a0314b14e_0_4248"/>
              <p:cNvGrpSpPr/>
              <p:nvPr/>
            </p:nvGrpSpPr>
            <p:grpSpPr>
              <a:xfrm>
                <a:off x="228600" y="590550"/>
                <a:ext cx="5048400" cy="762000"/>
                <a:chOff x="0" y="0"/>
                <a:chExt cx="5048400" cy="762000"/>
              </a:xfrm>
            </p:grpSpPr>
            <p:sp>
              <p:nvSpPr>
                <p:cNvPr id="441" name="Google Shape;441;g40a0314b14e_0_4248"/>
                <p:cNvSpPr/>
                <p:nvPr/>
              </p:nvSpPr>
              <p:spPr>
                <a:xfrm>
                  <a:off x="0" y="0"/>
                  <a:ext cx="5048400" cy="7620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2" name="Google Shape;442;g40a0314b14e_0_4248"/>
                <p:cNvSpPr/>
                <p:nvPr/>
              </p:nvSpPr>
              <p:spPr>
                <a:xfrm>
                  <a:off x="0" y="0"/>
                  <a:ext cx="47700" cy="762000"/>
                </a:xfrm>
                <a:prstGeom prst="roundRect">
                  <a:avLst>
                    <a:gd fmla="val 40000" name="adj"/>
                  </a:avLst>
                </a:prstGeom>
                <a:solidFill>
                  <a:srgbClr val="10B98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3" name="Google Shape;443;g40a0314b14e_0_4248"/>
                <p:cNvSpPr txBox="1"/>
                <p:nvPr/>
              </p:nvSpPr>
              <p:spPr>
                <a:xfrm>
                  <a:off x="171450" y="57150"/>
                  <a:ext cx="4705200" cy="6477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000">
                      <a:solidFill>
                        <a:srgbClr val="0F172A"/>
                      </a:solidFill>
                      <a:latin typeface="Plus Jakarta Sans"/>
                      <a:ea typeface="Plus Jakarta Sans"/>
                      <a:cs typeface="Plus Jakarta Sans"/>
                      <a:sym typeface="Plus Jakarta Sans"/>
                    </a:rPr>
                    <a:t>Social Impact &amp; Demand Balance</a:t>
                  </a:r>
                  <a:endParaRPr b="1" sz="100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  <a:p>
                  <a:pPr indent="0" lvl="0" marL="0" rtl="0" algn="l">
                    <a:spcBef>
                      <a:spcPts val="200"/>
                    </a:spcBef>
                    <a:spcAft>
                      <a:spcPts val="0"/>
                    </a:spcAft>
                    <a:buNone/>
                  </a:pPr>
                  <a:r>
                    <a:rPr b="0" lang="en-US" sz="800">
                      <a:solidFill>
                        <a:srgbClr val="475569"/>
                      </a:solidFill>
                      <a:latin typeface="Plus Jakarta Sans"/>
                      <a:ea typeface="Plus Jakarta Sans"/>
                      <a:cs typeface="Plus Jakarta Sans"/>
                      <a:sym typeface="Plus Jakarta Sans"/>
                    </a:rPr>
                    <a:t>Reduces overcrowding across 140+ BRTS stations. </a:t>
                  </a:r>
                  <a:r>
                    <a:rPr b="1" lang="en-US" sz="800">
                      <a:solidFill>
                        <a:srgbClr val="059669"/>
                      </a:solidFill>
                      <a:latin typeface="Plus Jakarta Sans"/>
                      <a:ea typeface="Plus Jakarta Sans"/>
                      <a:cs typeface="Plus Jakarta Sans"/>
                      <a:sym typeface="Plus Jakarta Sans"/>
                    </a:rPr>
                    <a:t>W_saved = 4.9 min/rider</a:t>
                  </a:r>
                  <a:endParaRPr b="0" sz="80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</p:txBody>
            </p:sp>
          </p:grpSp>
          <p:grpSp>
            <p:nvGrpSpPr>
              <p:cNvPr id="444" name="Google Shape;444;g40a0314b14e_0_4248"/>
              <p:cNvGrpSpPr/>
              <p:nvPr/>
            </p:nvGrpSpPr>
            <p:grpSpPr>
              <a:xfrm>
                <a:off x="228600" y="1447800"/>
                <a:ext cx="5048400" cy="762000"/>
                <a:chOff x="0" y="0"/>
                <a:chExt cx="5048400" cy="762000"/>
              </a:xfrm>
            </p:grpSpPr>
            <p:sp>
              <p:nvSpPr>
                <p:cNvPr id="445" name="Google Shape;445;g40a0314b14e_0_4248"/>
                <p:cNvSpPr/>
                <p:nvPr/>
              </p:nvSpPr>
              <p:spPr>
                <a:xfrm>
                  <a:off x="0" y="0"/>
                  <a:ext cx="5048400" cy="7620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6" name="Google Shape;446;g40a0314b14e_0_4248"/>
                <p:cNvSpPr/>
                <p:nvPr/>
              </p:nvSpPr>
              <p:spPr>
                <a:xfrm>
                  <a:off x="0" y="0"/>
                  <a:ext cx="47700" cy="762000"/>
                </a:xfrm>
                <a:prstGeom prst="roundRect">
                  <a:avLst>
                    <a:gd fmla="val 40000" name="adj"/>
                  </a:avLst>
                </a:prstGeom>
                <a:solidFill>
                  <a:srgbClr val="10B98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7" name="Google Shape;447;g40a0314b14e_0_4248"/>
                <p:cNvSpPr txBox="1"/>
                <p:nvPr/>
              </p:nvSpPr>
              <p:spPr>
                <a:xfrm>
                  <a:off x="171450" y="57150"/>
                  <a:ext cx="4705200" cy="6477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000">
                      <a:solidFill>
                        <a:srgbClr val="0F172A"/>
                      </a:solidFill>
                      <a:latin typeface="Plus Jakarta Sans"/>
                      <a:ea typeface="Plus Jakarta Sans"/>
                      <a:cs typeface="Plus Jakarta Sans"/>
                      <a:sym typeface="Plus Jakarta Sans"/>
                    </a:rPr>
                    <a:t>DPR Formula &amp; Economic Savings</a:t>
                  </a:r>
                  <a:endParaRPr b="1" sz="100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  <a:p>
                  <a:pPr indent="0" lvl="0" marL="0" rtl="0" algn="l">
                    <a:spcBef>
                      <a:spcPts val="200"/>
                    </a:spcBef>
                    <a:spcAft>
                      <a:spcPts val="0"/>
                    </a:spcAft>
                    <a:buNone/>
                  </a:pPr>
                  <a:r>
                    <a:rPr b="1" lang="en-US" sz="850">
                      <a:solidFill>
                        <a:srgbClr val="4338CA"/>
                      </a:solidFill>
                      <a:highlight>
                        <a:srgbClr val="EEF2FF"/>
                      </a:highlight>
                      <a:latin typeface="JetBrains Mono"/>
                      <a:ea typeface="JetBrains Mono"/>
                      <a:cs typeface="JetBrains Mono"/>
                      <a:sym typeface="JetBrains Mono"/>
                    </a:rPr>
                    <a:t>NOB = (W_saved × P_waiting × V_time) - (C_deadhead + D_delay) &gt; 0</a:t>
                  </a:r>
                  <a:endParaRPr b="1" sz="850">
                    <a:solidFill>
                      <a:srgbClr val="4338CA"/>
                    </a:solidFill>
                    <a:highlight>
                      <a:srgbClr val="EEF2FF"/>
                    </a:highlight>
                    <a:latin typeface="JetBrains Mono"/>
                    <a:ea typeface="JetBrains Mono"/>
                    <a:cs typeface="JetBrains Mono"/>
                    <a:sym typeface="JetBrains Mono"/>
                  </a:endParaRPr>
                </a:p>
                <a:p>
                  <a:pPr indent="0" lvl="0" marL="0" rtl="0" algn="l">
                    <a:spcBef>
                      <a:spcPts val="200"/>
                    </a:spcBef>
                    <a:spcAft>
                      <a:spcPts val="0"/>
                    </a:spcAft>
                    <a:buNone/>
                  </a:pPr>
                  <a:r>
                    <a:rPr b="0" lang="en-US" sz="800">
                      <a:solidFill>
                        <a:srgbClr val="1E40AF"/>
                      </a:solidFill>
                      <a:latin typeface="Plus Jakarta Sans SemiBold"/>
                      <a:ea typeface="Plus Jakarta Sans SemiBold"/>
                      <a:cs typeface="Plus Jakarta Sans SemiBold"/>
                      <a:sym typeface="Plus Jakarta Sans SemiBold"/>
                    </a:rPr>
                    <a:t>Gross = ₹5,590 | Costs = ₹770 | Net Benefit = ₹4,820 / diversion</a:t>
                  </a:r>
                  <a:endParaRPr b="0" sz="800">
                    <a:solidFill>
                      <a:srgbClr val="1E40AF"/>
                    </a:solidFill>
                    <a:latin typeface="Plus Jakarta Sans SemiBold"/>
                    <a:ea typeface="Plus Jakarta Sans SemiBold"/>
                    <a:cs typeface="Plus Jakarta Sans SemiBold"/>
                    <a:sym typeface="Plus Jakarta Sans SemiBold"/>
                  </a:endParaRPr>
                </a:p>
              </p:txBody>
            </p:sp>
          </p:grpSp>
          <p:grpSp>
            <p:nvGrpSpPr>
              <p:cNvPr id="448" name="Google Shape;448;g40a0314b14e_0_4248"/>
              <p:cNvGrpSpPr/>
              <p:nvPr/>
            </p:nvGrpSpPr>
            <p:grpSpPr>
              <a:xfrm>
                <a:off x="228600" y="2305050"/>
                <a:ext cx="5048400" cy="762000"/>
                <a:chOff x="0" y="0"/>
                <a:chExt cx="5048400" cy="762000"/>
              </a:xfrm>
            </p:grpSpPr>
            <p:sp>
              <p:nvSpPr>
                <p:cNvPr id="449" name="Google Shape;449;g40a0314b14e_0_4248"/>
                <p:cNvSpPr/>
                <p:nvPr/>
              </p:nvSpPr>
              <p:spPr>
                <a:xfrm>
                  <a:off x="0" y="0"/>
                  <a:ext cx="5048400" cy="7620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0" name="Google Shape;450;g40a0314b14e_0_4248"/>
                <p:cNvSpPr/>
                <p:nvPr/>
              </p:nvSpPr>
              <p:spPr>
                <a:xfrm>
                  <a:off x="0" y="0"/>
                  <a:ext cx="47700" cy="762000"/>
                </a:xfrm>
                <a:prstGeom prst="roundRect">
                  <a:avLst>
                    <a:gd fmla="val 40000" name="adj"/>
                  </a:avLst>
                </a:prstGeom>
                <a:solidFill>
                  <a:srgbClr val="10B98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1" name="Google Shape;451;g40a0314b14e_0_4248"/>
                <p:cNvSpPr txBox="1"/>
                <p:nvPr/>
              </p:nvSpPr>
              <p:spPr>
                <a:xfrm>
                  <a:off x="171450" y="57150"/>
                  <a:ext cx="4705200" cy="6477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000">
                      <a:solidFill>
                        <a:srgbClr val="0F172A"/>
                      </a:solidFill>
                      <a:latin typeface="Plus Jakarta Sans"/>
                      <a:ea typeface="Plus Jakarta Sans"/>
                      <a:cs typeface="Plus Jakarta Sans"/>
                      <a:sym typeface="Plus Jakarta Sans"/>
                    </a:rPr>
                    <a:t>Environmental Sustainability</a:t>
                  </a:r>
                  <a:endParaRPr b="1" sz="100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  <a:p>
                  <a:pPr indent="0" lvl="0" marL="0" rtl="0" algn="l">
                    <a:spcBef>
                      <a:spcPts val="200"/>
                    </a:spcBef>
                    <a:spcAft>
                      <a:spcPts val="0"/>
                    </a:spcAft>
                    <a:buNone/>
                  </a:pPr>
                  <a:r>
                    <a:rPr b="0" lang="en-US" sz="800">
                      <a:solidFill>
                        <a:srgbClr val="475569"/>
                      </a:solidFill>
                      <a:latin typeface="Plus Jakarta Sans"/>
                      <a:ea typeface="Plus Jakarta Sans"/>
                      <a:cs typeface="Plus Jakarta Sans"/>
                      <a:sym typeface="Plus Jakarta Sans"/>
                    </a:rPr>
                    <a:t>Eliminates ~2.68 kg CO2/L fuel saved (~12.8 kg CO2/trip saved) via dynamic optimization.</a:t>
                  </a:r>
                  <a:endParaRPr b="0" sz="80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</p:txBody>
            </p:sp>
          </p:grpSp>
        </p:grpSp>
      </p:grpSp>
      <p:sp>
        <p:nvSpPr>
          <p:cNvPr descr="Your startup LOGO" id="452" name="Google Shape;452;g40a0314b14e_0_4248"/>
          <p:cNvSpPr/>
          <p:nvPr/>
        </p:nvSpPr>
        <p:spPr>
          <a:xfrm>
            <a:off x="329775" y="252250"/>
            <a:ext cx="14412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 Wizards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40a0314b14e_0_4553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40a0314b14e_0_4553"/>
          <p:cNvSpPr txBox="1"/>
          <p:nvPr>
            <p:ph type="title"/>
          </p:nvPr>
        </p:nvSpPr>
        <p:spPr>
          <a:xfrm>
            <a:off x="609600" y="171450"/>
            <a:ext cx="10972800" cy="6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RESEARCH &amp; REFERENCES</a:t>
            </a:r>
            <a:endParaRPr b="1" sz="26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Sources, Protocol Standards &amp; Algorithmic Foundations</a:t>
            </a:r>
            <a:endParaRPr b="1" sz="1050">
              <a:solidFill>
                <a:srgbClr val="0284C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60" name="Google Shape;460;g40a0314b14e_0_4553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61" name="Google Shape;461;g40a0314b14e_0_4553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462" name="Google Shape;462;g40a0314b14e_0_45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3" name="Google Shape;463;g40a0314b14e_0_4553"/>
          <p:cNvGrpSpPr/>
          <p:nvPr/>
        </p:nvGrpSpPr>
        <p:grpSpPr>
          <a:xfrm>
            <a:off x="457200" y="1000125"/>
            <a:ext cx="3543300" cy="5143500"/>
            <a:chOff x="0" y="0"/>
            <a:chExt cx="3543300" cy="5143500"/>
          </a:xfrm>
        </p:grpSpPr>
        <p:sp>
          <p:nvSpPr>
            <p:cNvPr id="464" name="Google Shape;464;g40a0314b14e_0_4553"/>
            <p:cNvSpPr/>
            <p:nvPr/>
          </p:nvSpPr>
          <p:spPr>
            <a:xfrm>
              <a:off x="0" y="0"/>
              <a:ext cx="3543300" cy="5143500"/>
            </a:xfrm>
            <a:prstGeom prst="roundRect">
              <a:avLst>
                <a:gd fmla="val 4301" name="adj"/>
              </a:avLst>
            </a:prstGeom>
            <a:solidFill>
              <a:srgbClr val="FFF7ED"/>
            </a:solidFill>
            <a:ln cap="flat" cmpd="sng" w="14300">
              <a:solidFill>
                <a:srgbClr val="FDBA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g40a0314b14e_0_4553"/>
            <p:cNvSpPr/>
            <p:nvPr/>
          </p:nvSpPr>
          <p:spPr>
            <a:xfrm>
              <a:off x="0" y="0"/>
              <a:ext cx="3543300" cy="57300"/>
            </a:xfrm>
            <a:prstGeom prst="roundRect">
              <a:avLst>
                <a:gd fmla="val 50000" name="adj"/>
              </a:avLst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6" name="Google Shape;466;g40a0314b14e_0_4553"/>
            <p:cNvGrpSpPr/>
            <p:nvPr/>
          </p:nvGrpSpPr>
          <p:grpSpPr>
            <a:xfrm>
              <a:off x="190500" y="171450"/>
              <a:ext cx="1714500" cy="266700"/>
              <a:chOff x="0" y="0"/>
              <a:chExt cx="1714500" cy="266700"/>
            </a:xfrm>
          </p:grpSpPr>
          <p:sp>
            <p:nvSpPr>
              <p:cNvPr id="467" name="Google Shape;467;g40a0314b14e_0_4553"/>
              <p:cNvSpPr/>
              <p:nvPr/>
            </p:nvSpPr>
            <p:spPr>
              <a:xfrm>
                <a:off x="0" y="0"/>
                <a:ext cx="17145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g40a0314b14e_0_4553"/>
              <p:cNvSpPr txBox="1"/>
              <p:nvPr/>
            </p:nvSpPr>
            <p:spPr>
              <a:xfrm>
                <a:off x="0" y="0"/>
                <a:ext cx="17145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FFFFFF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DATA SOURCES</a:t>
                </a:r>
                <a:endParaRPr b="0" sz="900">
                  <a:solidFill>
                    <a:srgbClr val="FFFFFF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</p:grpSp>
        <p:grpSp>
          <p:nvGrpSpPr>
            <p:cNvPr id="469" name="Google Shape;469;g40a0314b14e_0_4553"/>
            <p:cNvGrpSpPr/>
            <p:nvPr/>
          </p:nvGrpSpPr>
          <p:grpSpPr>
            <a:xfrm>
              <a:off x="152400" y="590550"/>
              <a:ext cx="3238500" cy="914400"/>
              <a:chOff x="0" y="0"/>
              <a:chExt cx="3238500" cy="914400"/>
            </a:xfrm>
          </p:grpSpPr>
          <p:sp>
            <p:nvSpPr>
              <p:cNvPr id="470" name="Google Shape;470;g40a0314b14e_0_4553"/>
              <p:cNvSpPr/>
              <p:nvPr/>
            </p:nvSpPr>
            <p:spPr>
              <a:xfrm>
                <a:off x="0" y="0"/>
                <a:ext cx="3238500" cy="914400"/>
              </a:xfrm>
              <a:prstGeom prst="roundRect">
                <a:avLst>
                  <a:gd fmla="val 125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ED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g40a0314b14e_0_4553"/>
              <p:cNvSpPr txBox="1"/>
              <p:nvPr/>
            </p:nvSpPr>
            <p:spPr>
              <a:xfrm>
                <a:off x="152400" y="146431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>
                    <a:solidFill>
                      <a:srgbClr val="EA580C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directions_bus</a:t>
                </a:r>
                <a:endParaRPr sz="2200">
                  <a:solidFill>
                    <a:srgbClr val="EA580C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72" name="Google Shape;472;g40a0314b14e_0_4553"/>
              <p:cNvSpPr txBox="1"/>
              <p:nvPr/>
            </p:nvSpPr>
            <p:spPr>
              <a:xfrm>
                <a:off x="609600" y="114300"/>
                <a:ext cx="24765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9A3412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Ahmedabad BRTS Network</a:t>
                </a:r>
                <a:endParaRPr b="1" sz="1050">
                  <a:solidFill>
                    <a:srgbClr val="9A341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850">
                    <a:solidFill>
                      <a:srgbClr val="64748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140+ Station coordinates, route catalogues &amp; fare matrices.</a:t>
                </a:r>
                <a:endParaRPr sz="850">
                  <a:solidFill>
                    <a:srgbClr val="64748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473" name="Google Shape;473;g40a0314b14e_0_4553"/>
            <p:cNvGrpSpPr/>
            <p:nvPr/>
          </p:nvGrpSpPr>
          <p:grpSpPr>
            <a:xfrm>
              <a:off x="152400" y="1619250"/>
              <a:ext cx="3238500" cy="914400"/>
              <a:chOff x="0" y="0"/>
              <a:chExt cx="3238500" cy="914400"/>
            </a:xfrm>
          </p:grpSpPr>
          <p:sp>
            <p:nvSpPr>
              <p:cNvPr id="474" name="Google Shape;474;g40a0314b14e_0_4553"/>
              <p:cNvSpPr/>
              <p:nvPr/>
            </p:nvSpPr>
            <p:spPr>
              <a:xfrm>
                <a:off x="0" y="0"/>
                <a:ext cx="3238500" cy="914400"/>
              </a:xfrm>
              <a:prstGeom prst="roundRect">
                <a:avLst>
                  <a:gd fmla="val 125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ED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g40a0314b14e_0_4553"/>
              <p:cNvSpPr txBox="1"/>
              <p:nvPr/>
            </p:nvSpPr>
            <p:spPr>
              <a:xfrm>
                <a:off x="152400" y="146431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>
                    <a:solidFill>
                      <a:srgbClr val="EA580C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sensors</a:t>
                </a:r>
                <a:endParaRPr sz="2200">
                  <a:solidFill>
                    <a:srgbClr val="EA580C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76" name="Google Shape;476;g40a0314b14e_0_4553"/>
              <p:cNvSpPr txBox="1"/>
              <p:nvPr/>
            </p:nvSpPr>
            <p:spPr>
              <a:xfrm>
                <a:off x="609600" y="114300"/>
                <a:ext cx="24765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9A3412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IoT &amp; AFCS Live Feeds</a:t>
                </a:r>
                <a:endParaRPr b="1" sz="1050">
                  <a:solidFill>
                    <a:srgbClr val="9A341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850">
                    <a:solidFill>
                      <a:srgbClr val="64748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GPS vectors, speed, heading &amp; smartcard validation streams.</a:t>
                </a:r>
                <a:endParaRPr sz="850">
                  <a:solidFill>
                    <a:srgbClr val="64748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477" name="Google Shape;477;g40a0314b14e_0_4553"/>
            <p:cNvGrpSpPr/>
            <p:nvPr/>
          </p:nvGrpSpPr>
          <p:grpSpPr>
            <a:xfrm>
              <a:off x="152400" y="2647950"/>
              <a:ext cx="3238500" cy="914400"/>
              <a:chOff x="0" y="0"/>
              <a:chExt cx="3238500" cy="914400"/>
            </a:xfrm>
          </p:grpSpPr>
          <p:sp>
            <p:nvSpPr>
              <p:cNvPr id="478" name="Google Shape;478;g40a0314b14e_0_4553"/>
              <p:cNvSpPr/>
              <p:nvPr/>
            </p:nvSpPr>
            <p:spPr>
              <a:xfrm>
                <a:off x="0" y="0"/>
                <a:ext cx="3238500" cy="914400"/>
              </a:xfrm>
              <a:prstGeom prst="roundRect">
                <a:avLst>
                  <a:gd fmla="val 125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ED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g40a0314b14e_0_4553"/>
              <p:cNvSpPr txBox="1"/>
              <p:nvPr/>
            </p:nvSpPr>
            <p:spPr>
              <a:xfrm>
                <a:off x="152400" y="146431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>
                    <a:solidFill>
                      <a:srgbClr val="EA580C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videocam</a:t>
                </a:r>
                <a:endParaRPr sz="2200">
                  <a:solidFill>
                    <a:srgbClr val="EA580C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80" name="Google Shape;480;g40a0314b14e_0_4553"/>
              <p:cNvSpPr txBox="1"/>
              <p:nvPr/>
            </p:nvSpPr>
            <p:spPr>
              <a:xfrm>
                <a:off x="609600" y="114300"/>
                <a:ext cx="24765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9A3412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CCTV Station Surge</a:t>
                </a:r>
                <a:endParaRPr b="1" sz="1050">
                  <a:solidFill>
                    <a:srgbClr val="9A341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850">
                    <a:solidFill>
                      <a:srgbClr val="64748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Visual crowd estimation measuring passenger queues at hubs.</a:t>
                </a:r>
                <a:endParaRPr sz="850">
                  <a:solidFill>
                    <a:srgbClr val="64748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481" name="Google Shape;481;g40a0314b14e_0_4553"/>
            <p:cNvGrpSpPr/>
            <p:nvPr/>
          </p:nvGrpSpPr>
          <p:grpSpPr>
            <a:xfrm>
              <a:off x="152400" y="3714750"/>
              <a:ext cx="3238500" cy="1238400"/>
              <a:chOff x="0" y="0"/>
              <a:chExt cx="3238500" cy="1238400"/>
            </a:xfrm>
          </p:grpSpPr>
          <p:sp>
            <p:nvSpPr>
              <p:cNvPr id="482" name="Google Shape;482;g40a0314b14e_0_4553"/>
              <p:cNvSpPr/>
              <p:nvPr/>
            </p:nvSpPr>
            <p:spPr>
              <a:xfrm>
                <a:off x="0" y="0"/>
                <a:ext cx="3238500" cy="1238400"/>
              </a:xfrm>
              <a:prstGeom prst="roundRect">
                <a:avLst>
                  <a:gd fmla="val 9230" name="adj"/>
                </a:avLst>
              </a:prstGeom>
              <a:solidFill>
                <a:srgbClr val="FFEDD5"/>
              </a:solidFill>
              <a:ln cap="flat" cmpd="sng" w="9525">
                <a:solidFill>
                  <a:srgbClr val="FDBA7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g40a0314b14e_0_4553"/>
              <p:cNvSpPr txBox="1"/>
              <p:nvPr/>
            </p:nvSpPr>
            <p:spPr>
              <a:xfrm>
                <a:off x="152400" y="114300"/>
                <a:ext cx="2933700" cy="100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000">
                    <a:solidFill>
                      <a:srgbClr val="EA580C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250+ BUSES</a:t>
                </a:r>
                <a:endParaRPr b="0" sz="2000">
                  <a:solidFill>
                    <a:srgbClr val="EA580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7C2D12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Active BRTS Telemetry Coverage</a:t>
                </a:r>
                <a:endParaRPr b="1" sz="900">
                  <a:solidFill>
                    <a:srgbClr val="7C2D1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grpSp>
        <p:nvGrpSpPr>
          <p:cNvPr id="484" name="Google Shape;484;g40a0314b14e_0_4553"/>
          <p:cNvGrpSpPr/>
          <p:nvPr/>
        </p:nvGrpSpPr>
        <p:grpSpPr>
          <a:xfrm>
            <a:off x="4324350" y="1000125"/>
            <a:ext cx="3543300" cy="5143500"/>
            <a:chOff x="0" y="0"/>
            <a:chExt cx="3543300" cy="5143500"/>
          </a:xfrm>
        </p:grpSpPr>
        <p:sp>
          <p:nvSpPr>
            <p:cNvPr id="485" name="Google Shape;485;g40a0314b14e_0_4553"/>
            <p:cNvSpPr/>
            <p:nvPr/>
          </p:nvSpPr>
          <p:spPr>
            <a:xfrm>
              <a:off x="0" y="0"/>
              <a:ext cx="3543300" cy="5143500"/>
            </a:xfrm>
            <a:prstGeom prst="roundRect">
              <a:avLst>
                <a:gd fmla="val 4301" name="adj"/>
              </a:avLst>
            </a:prstGeom>
            <a:solidFill>
              <a:srgbClr val="ECFDF5"/>
            </a:solidFill>
            <a:ln cap="flat" cmpd="sng" w="14300">
              <a:solidFill>
                <a:srgbClr val="6EE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g40a0314b14e_0_4553"/>
            <p:cNvSpPr/>
            <p:nvPr/>
          </p:nvSpPr>
          <p:spPr>
            <a:xfrm>
              <a:off x="0" y="0"/>
              <a:ext cx="3543300" cy="573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7" name="Google Shape;487;g40a0314b14e_0_4553"/>
            <p:cNvGrpSpPr/>
            <p:nvPr/>
          </p:nvGrpSpPr>
          <p:grpSpPr>
            <a:xfrm>
              <a:off x="190500" y="171450"/>
              <a:ext cx="1809600" cy="266700"/>
              <a:chOff x="0" y="0"/>
              <a:chExt cx="1809600" cy="266700"/>
            </a:xfrm>
          </p:grpSpPr>
          <p:sp>
            <p:nvSpPr>
              <p:cNvPr id="488" name="Google Shape;488;g40a0314b14e_0_4553"/>
              <p:cNvSpPr/>
              <p:nvPr/>
            </p:nvSpPr>
            <p:spPr>
              <a:xfrm>
                <a:off x="0" y="0"/>
                <a:ext cx="18096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g40a0314b14e_0_4553"/>
              <p:cNvSpPr txBox="1"/>
              <p:nvPr/>
            </p:nvSpPr>
            <p:spPr>
              <a:xfrm>
                <a:off x="0" y="0"/>
                <a:ext cx="18096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FFFFFF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PROTOCOLS &amp; APIS</a:t>
                </a:r>
                <a:endParaRPr b="0" sz="900">
                  <a:solidFill>
                    <a:srgbClr val="FFFFFF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</p:grpSp>
        <p:grpSp>
          <p:nvGrpSpPr>
            <p:cNvPr id="490" name="Google Shape;490;g40a0314b14e_0_4553"/>
            <p:cNvGrpSpPr/>
            <p:nvPr/>
          </p:nvGrpSpPr>
          <p:grpSpPr>
            <a:xfrm>
              <a:off x="152400" y="590550"/>
              <a:ext cx="3238500" cy="914400"/>
              <a:chOff x="0" y="0"/>
              <a:chExt cx="3238500" cy="914400"/>
            </a:xfrm>
          </p:grpSpPr>
          <p:sp>
            <p:nvSpPr>
              <p:cNvPr id="491" name="Google Shape;491;g40a0314b14e_0_4553"/>
              <p:cNvSpPr/>
              <p:nvPr/>
            </p:nvSpPr>
            <p:spPr>
              <a:xfrm>
                <a:off x="0" y="0"/>
                <a:ext cx="3238500" cy="914400"/>
              </a:xfrm>
              <a:prstGeom prst="roundRect">
                <a:avLst>
                  <a:gd fmla="val 125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1FAE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g40a0314b14e_0_4553"/>
              <p:cNvSpPr txBox="1"/>
              <p:nvPr/>
            </p:nvSpPr>
            <p:spPr>
              <a:xfrm>
                <a:off x="152400" y="146431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>
                    <a:solidFill>
                      <a:srgbClr val="10B98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api</a:t>
                </a:r>
                <a:endParaRPr sz="2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93" name="Google Shape;493;g40a0314b14e_0_4553"/>
              <p:cNvSpPr txBox="1"/>
              <p:nvPr/>
            </p:nvSpPr>
            <p:spPr>
              <a:xfrm>
                <a:off x="609600" y="114300"/>
                <a:ext cx="24765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65F46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GTFS-Realtime v2.0</a:t>
                </a:r>
                <a:endParaRPr b="1" sz="1050">
                  <a:solidFill>
                    <a:srgbClr val="065F4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850">
                    <a:solidFill>
                      <a:srgbClr val="64748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Standardized JSON &amp; Protobuf feeds for vehicle telemetry.</a:t>
                </a:r>
                <a:endParaRPr sz="850">
                  <a:solidFill>
                    <a:srgbClr val="64748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494" name="Google Shape;494;g40a0314b14e_0_4553"/>
            <p:cNvGrpSpPr/>
            <p:nvPr/>
          </p:nvGrpSpPr>
          <p:grpSpPr>
            <a:xfrm>
              <a:off x="152400" y="1619250"/>
              <a:ext cx="3238500" cy="914400"/>
              <a:chOff x="0" y="0"/>
              <a:chExt cx="3238500" cy="914400"/>
            </a:xfrm>
          </p:grpSpPr>
          <p:sp>
            <p:nvSpPr>
              <p:cNvPr id="495" name="Google Shape;495;g40a0314b14e_0_4553"/>
              <p:cNvSpPr/>
              <p:nvPr/>
            </p:nvSpPr>
            <p:spPr>
              <a:xfrm>
                <a:off x="0" y="0"/>
                <a:ext cx="3238500" cy="914400"/>
              </a:xfrm>
              <a:prstGeom prst="roundRect">
                <a:avLst>
                  <a:gd fmla="val 125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1FAE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g40a0314b14e_0_4553"/>
              <p:cNvSpPr txBox="1"/>
              <p:nvPr/>
            </p:nvSpPr>
            <p:spPr>
              <a:xfrm>
                <a:off x="152400" y="146431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>
                    <a:solidFill>
                      <a:srgbClr val="10B98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map</a:t>
                </a:r>
                <a:endParaRPr sz="2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97" name="Google Shape;497;g40a0314b14e_0_4553"/>
              <p:cNvSpPr txBox="1"/>
              <p:nvPr/>
            </p:nvSpPr>
            <p:spPr>
              <a:xfrm>
                <a:off x="609600" y="114300"/>
                <a:ext cx="24765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65F46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Leaflet GIS Engine</a:t>
                </a:r>
                <a:endParaRPr b="1" sz="1050">
                  <a:solidFill>
                    <a:srgbClr val="065F4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850">
                    <a:solidFill>
                      <a:srgbClr val="64748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High-accuracy map-matching polylines &amp; river bridge overlays.</a:t>
                </a:r>
                <a:endParaRPr sz="850">
                  <a:solidFill>
                    <a:srgbClr val="64748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498" name="Google Shape;498;g40a0314b14e_0_4553"/>
            <p:cNvGrpSpPr/>
            <p:nvPr/>
          </p:nvGrpSpPr>
          <p:grpSpPr>
            <a:xfrm>
              <a:off x="152400" y="2647950"/>
              <a:ext cx="3238500" cy="914400"/>
              <a:chOff x="0" y="0"/>
              <a:chExt cx="3238500" cy="914400"/>
            </a:xfrm>
          </p:grpSpPr>
          <p:sp>
            <p:nvSpPr>
              <p:cNvPr id="499" name="Google Shape;499;g40a0314b14e_0_4553"/>
              <p:cNvSpPr/>
              <p:nvPr/>
            </p:nvSpPr>
            <p:spPr>
              <a:xfrm>
                <a:off x="0" y="0"/>
                <a:ext cx="3238500" cy="914400"/>
              </a:xfrm>
              <a:prstGeom prst="roundRect">
                <a:avLst>
                  <a:gd fmla="val 125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1FAE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g40a0314b14e_0_4553"/>
              <p:cNvSpPr txBox="1"/>
              <p:nvPr/>
            </p:nvSpPr>
            <p:spPr>
              <a:xfrm>
                <a:off x="152400" y="146431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>
                    <a:solidFill>
                      <a:srgbClr val="10B98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volume_up</a:t>
                </a:r>
                <a:endParaRPr sz="2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501" name="Google Shape;501;g40a0314b14e_0_4553"/>
              <p:cNvSpPr txBox="1"/>
              <p:nvPr/>
            </p:nvSpPr>
            <p:spPr>
              <a:xfrm>
                <a:off x="609600" y="114300"/>
                <a:ext cx="24765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65F46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Web Audio &amp; Driver HUD</a:t>
                </a:r>
                <a:endParaRPr b="1" sz="1050">
                  <a:solidFill>
                    <a:srgbClr val="065F4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850">
                    <a:solidFill>
                      <a:srgbClr val="64748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Browser Web Audio chime triggers paired with turn-by-turn reroute.</a:t>
                </a:r>
                <a:endParaRPr sz="850">
                  <a:solidFill>
                    <a:srgbClr val="64748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502" name="Google Shape;502;g40a0314b14e_0_4553"/>
            <p:cNvGrpSpPr/>
            <p:nvPr/>
          </p:nvGrpSpPr>
          <p:grpSpPr>
            <a:xfrm>
              <a:off x="152400" y="3714750"/>
              <a:ext cx="3238500" cy="1238400"/>
              <a:chOff x="0" y="0"/>
              <a:chExt cx="3238500" cy="1238400"/>
            </a:xfrm>
          </p:grpSpPr>
          <p:sp>
            <p:nvSpPr>
              <p:cNvPr id="503" name="Google Shape;503;g40a0314b14e_0_4553"/>
              <p:cNvSpPr/>
              <p:nvPr/>
            </p:nvSpPr>
            <p:spPr>
              <a:xfrm>
                <a:off x="0" y="0"/>
                <a:ext cx="3238500" cy="1238400"/>
              </a:xfrm>
              <a:prstGeom prst="roundRect">
                <a:avLst>
                  <a:gd fmla="val 9230" name="adj"/>
                </a:avLst>
              </a:prstGeom>
              <a:solidFill>
                <a:srgbClr val="D1FAE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g40a0314b14e_0_4553"/>
              <p:cNvSpPr txBox="1"/>
              <p:nvPr/>
            </p:nvSpPr>
            <p:spPr>
              <a:xfrm>
                <a:off x="152400" y="114300"/>
                <a:ext cx="2933700" cy="100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047857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📡 INTEROPERABILITY MATRIX</a:t>
                </a:r>
                <a:endParaRPr b="0" sz="950">
                  <a:solidFill>
                    <a:srgbClr val="047857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065F46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• Next.js 16 State Sync (2.5s loop)</a:t>
                </a:r>
                <a:br>
                  <a:rPr lang="en-US" sz="800">
                    <a:solidFill>
                      <a:srgbClr val="065F46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</a:br>
                <a:r>
                  <a:rPr lang="en-US" sz="800">
                    <a:solidFill>
                      <a:srgbClr val="065F46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• OpenStreetMap / Google Maps Tiles</a:t>
                </a:r>
                <a:br>
                  <a:rPr lang="en-US" sz="800">
                    <a:solidFill>
                      <a:srgbClr val="065F46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</a:br>
                <a:r>
                  <a:rPr lang="en-US" sz="800">
                    <a:solidFill>
                      <a:srgbClr val="065F46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• SheetJS CSV/XLSX Bulk Ingestion</a:t>
                </a:r>
                <a:endParaRPr sz="800">
                  <a:solidFill>
                    <a:srgbClr val="065F4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grpSp>
        <p:nvGrpSpPr>
          <p:cNvPr id="505" name="Google Shape;505;g40a0314b14e_0_4553"/>
          <p:cNvGrpSpPr/>
          <p:nvPr/>
        </p:nvGrpSpPr>
        <p:grpSpPr>
          <a:xfrm>
            <a:off x="8191500" y="952500"/>
            <a:ext cx="3543300" cy="5191200"/>
            <a:chOff x="0" y="0"/>
            <a:chExt cx="3543300" cy="5191200"/>
          </a:xfrm>
        </p:grpSpPr>
        <p:sp>
          <p:nvSpPr>
            <p:cNvPr id="506" name="Google Shape;506;g40a0314b14e_0_4553"/>
            <p:cNvSpPr/>
            <p:nvPr/>
          </p:nvSpPr>
          <p:spPr>
            <a:xfrm>
              <a:off x="0" y="0"/>
              <a:ext cx="3543300" cy="5191200"/>
            </a:xfrm>
            <a:prstGeom prst="roundRect">
              <a:avLst>
                <a:gd fmla="val 4301" name="adj"/>
              </a:avLst>
            </a:prstGeom>
            <a:solidFill>
              <a:srgbClr val="EEF2FF"/>
            </a:solidFill>
            <a:ln cap="flat" cmpd="sng" w="14300">
              <a:solidFill>
                <a:srgbClr val="A5B4F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g40a0314b14e_0_4553"/>
            <p:cNvSpPr/>
            <p:nvPr/>
          </p:nvSpPr>
          <p:spPr>
            <a:xfrm>
              <a:off x="0" y="0"/>
              <a:ext cx="3543300" cy="57300"/>
            </a:xfrm>
            <a:prstGeom prst="roundRect">
              <a:avLst>
                <a:gd fmla="val 50000" name="adj"/>
              </a:avLst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8" name="Google Shape;508;g40a0314b14e_0_4553"/>
            <p:cNvGrpSpPr/>
            <p:nvPr/>
          </p:nvGrpSpPr>
          <p:grpSpPr>
            <a:xfrm>
              <a:off x="190500" y="171450"/>
              <a:ext cx="1905000" cy="266700"/>
              <a:chOff x="0" y="0"/>
              <a:chExt cx="1905000" cy="266700"/>
            </a:xfrm>
          </p:grpSpPr>
          <p:sp>
            <p:nvSpPr>
              <p:cNvPr id="509" name="Google Shape;509;g40a0314b14e_0_4553"/>
              <p:cNvSpPr/>
              <p:nvPr/>
            </p:nvSpPr>
            <p:spPr>
              <a:xfrm>
                <a:off x="0" y="0"/>
                <a:ext cx="19050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6366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g40a0314b14e_0_4553"/>
              <p:cNvSpPr txBox="1"/>
              <p:nvPr/>
            </p:nvSpPr>
            <p:spPr>
              <a:xfrm>
                <a:off x="0" y="0"/>
                <a:ext cx="19050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FFFFFF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RESEARCH &amp; LOGIC</a:t>
                </a:r>
                <a:endParaRPr b="0" sz="900">
                  <a:solidFill>
                    <a:srgbClr val="FFFFFF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</p:grpSp>
        <p:grpSp>
          <p:nvGrpSpPr>
            <p:cNvPr id="511" name="Google Shape;511;g40a0314b14e_0_4553"/>
            <p:cNvGrpSpPr/>
            <p:nvPr/>
          </p:nvGrpSpPr>
          <p:grpSpPr>
            <a:xfrm>
              <a:off x="152400" y="590550"/>
              <a:ext cx="3238500" cy="914400"/>
              <a:chOff x="0" y="0"/>
              <a:chExt cx="3238500" cy="914400"/>
            </a:xfrm>
          </p:grpSpPr>
          <p:sp>
            <p:nvSpPr>
              <p:cNvPr id="512" name="Google Shape;512;g40a0314b14e_0_4553"/>
              <p:cNvSpPr/>
              <p:nvPr/>
            </p:nvSpPr>
            <p:spPr>
              <a:xfrm>
                <a:off x="0" y="0"/>
                <a:ext cx="3238500" cy="914400"/>
              </a:xfrm>
              <a:prstGeom prst="roundRect">
                <a:avLst>
                  <a:gd fmla="val 125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7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g40a0314b14e_0_4553"/>
              <p:cNvSpPr txBox="1"/>
              <p:nvPr/>
            </p:nvSpPr>
            <p:spPr>
              <a:xfrm>
                <a:off x="152400" y="146431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menu_book</a:t>
                </a:r>
                <a:endParaRPr sz="22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514" name="Google Shape;514;g40a0314b14e_0_4553"/>
              <p:cNvSpPr txBox="1"/>
              <p:nvPr/>
            </p:nvSpPr>
            <p:spPr>
              <a:xfrm>
                <a:off x="609600" y="114300"/>
                <a:ext cx="24765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3730A3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Transit Optimization</a:t>
                </a:r>
                <a:endParaRPr b="1" sz="1050">
                  <a:solidFill>
                    <a:srgbClr val="3730A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850">
                    <a:solidFill>
                      <a:srgbClr val="64748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Journal of Public Transport dynamic fleet reallocation models.</a:t>
                </a:r>
                <a:endParaRPr sz="850">
                  <a:solidFill>
                    <a:srgbClr val="64748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515" name="Google Shape;515;g40a0314b14e_0_4553"/>
            <p:cNvGrpSpPr/>
            <p:nvPr/>
          </p:nvGrpSpPr>
          <p:grpSpPr>
            <a:xfrm>
              <a:off x="152400" y="1619250"/>
              <a:ext cx="3238500" cy="914400"/>
              <a:chOff x="0" y="0"/>
              <a:chExt cx="3238500" cy="914400"/>
            </a:xfrm>
          </p:grpSpPr>
          <p:sp>
            <p:nvSpPr>
              <p:cNvPr id="516" name="Google Shape;516;g40a0314b14e_0_4553"/>
              <p:cNvSpPr/>
              <p:nvPr/>
            </p:nvSpPr>
            <p:spPr>
              <a:xfrm>
                <a:off x="0" y="0"/>
                <a:ext cx="3238500" cy="914400"/>
              </a:xfrm>
              <a:prstGeom prst="roundRect">
                <a:avLst>
                  <a:gd fmla="val 125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7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g40a0314b14e_0_4553"/>
              <p:cNvSpPr txBox="1"/>
              <p:nvPr/>
            </p:nvSpPr>
            <p:spPr>
              <a:xfrm>
                <a:off x="152400" y="146431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calculate</a:t>
                </a:r>
                <a:endParaRPr sz="22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518" name="Google Shape;518;g40a0314b14e_0_4553"/>
              <p:cNvSpPr txBox="1"/>
              <p:nvPr/>
            </p:nvSpPr>
            <p:spPr>
              <a:xfrm>
                <a:off x="609600" y="114300"/>
                <a:ext cx="24765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3730A3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DPR Economic Formula</a:t>
                </a:r>
                <a:endParaRPr b="1" sz="1050">
                  <a:solidFill>
                    <a:srgbClr val="3730A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800">
                    <a:solidFill>
                      <a:srgbClr val="4338C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NOB = (W_saved × P_wait × V_time) - Costs &gt; 0</a:t>
                </a:r>
                <a:endParaRPr b="1" sz="800">
                  <a:solidFill>
                    <a:srgbClr val="4338CA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  <p:grpSp>
          <p:nvGrpSpPr>
            <p:cNvPr id="519" name="Google Shape;519;g40a0314b14e_0_4553"/>
            <p:cNvGrpSpPr/>
            <p:nvPr/>
          </p:nvGrpSpPr>
          <p:grpSpPr>
            <a:xfrm>
              <a:off x="152400" y="2647950"/>
              <a:ext cx="3238500" cy="914400"/>
              <a:chOff x="0" y="0"/>
              <a:chExt cx="3238500" cy="914400"/>
            </a:xfrm>
          </p:grpSpPr>
          <p:sp>
            <p:nvSpPr>
              <p:cNvPr id="520" name="Google Shape;520;g40a0314b14e_0_4553"/>
              <p:cNvSpPr/>
              <p:nvPr/>
            </p:nvSpPr>
            <p:spPr>
              <a:xfrm>
                <a:off x="0" y="0"/>
                <a:ext cx="3238500" cy="914400"/>
              </a:xfrm>
              <a:prstGeom prst="roundRect">
                <a:avLst>
                  <a:gd fmla="val 125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7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g40a0314b14e_0_4553"/>
              <p:cNvSpPr txBox="1"/>
              <p:nvPr/>
            </p:nvSpPr>
            <p:spPr>
              <a:xfrm>
                <a:off x="152400" y="146431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published_with_changes</a:t>
                </a:r>
                <a:endParaRPr sz="22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522" name="Google Shape;522;g40a0314b14e_0_4553"/>
              <p:cNvSpPr txBox="1"/>
              <p:nvPr/>
            </p:nvSpPr>
            <p:spPr>
              <a:xfrm>
                <a:off x="609600" y="114300"/>
                <a:ext cx="24765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3730A3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Load Factor (PLF) Rules</a:t>
                </a:r>
                <a:endParaRPr b="1" sz="1050">
                  <a:solidFill>
                    <a:srgbClr val="3730A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850">
                    <a:solidFill>
                      <a:srgbClr val="64748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Overload (&gt;85%) triggers dynamic Express 9X reallocation.</a:t>
                </a:r>
                <a:endParaRPr sz="850">
                  <a:solidFill>
                    <a:srgbClr val="64748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523" name="Google Shape;523;g40a0314b14e_0_4553"/>
            <p:cNvGrpSpPr/>
            <p:nvPr/>
          </p:nvGrpSpPr>
          <p:grpSpPr>
            <a:xfrm>
              <a:off x="152400" y="3714750"/>
              <a:ext cx="3238500" cy="1285800"/>
              <a:chOff x="0" y="0"/>
              <a:chExt cx="3238500" cy="1285800"/>
            </a:xfrm>
          </p:grpSpPr>
          <p:sp>
            <p:nvSpPr>
              <p:cNvPr id="524" name="Google Shape;524;g40a0314b14e_0_4553"/>
              <p:cNvSpPr/>
              <p:nvPr/>
            </p:nvSpPr>
            <p:spPr>
              <a:xfrm>
                <a:off x="0" y="0"/>
                <a:ext cx="3238500" cy="1285800"/>
              </a:xfrm>
              <a:prstGeom prst="roundRect">
                <a:avLst>
                  <a:gd fmla="val 8888" name="adj"/>
                </a:avLst>
              </a:prstGeom>
              <a:solidFill>
                <a:srgbClr val="E0E7FF"/>
              </a:solidFill>
              <a:ln cap="flat" cmpd="sng" w="9525">
                <a:solidFill>
                  <a:srgbClr val="C7D2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g40a0314b14e_0_4553"/>
              <p:cNvSpPr txBox="1"/>
              <p:nvPr/>
            </p:nvSpPr>
            <p:spPr>
              <a:xfrm>
                <a:off x="152400" y="114300"/>
                <a:ext cx="2933700" cy="10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312E81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💡 CITATIONS &amp; VALUATION</a:t>
                </a:r>
                <a:endParaRPr b="0" sz="950">
                  <a:solidFill>
                    <a:srgbClr val="312E81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3730A3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• Passenger Time Value (V_time = ₹2.5/min)</a:t>
                </a:r>
                <a:br>
                  <a:rPr lang="en-US" sz="800">
                    <a:solidFill>
                      <a:srgbClr val="3730A3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</a:br>
                <a:r>
                  <a:rPr lang="en-US" sz="800">
                    <a:solidFill>
                      <a:srgbClr val="3730A3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• Deadhead Cost Proxy (C_deadhead = ₹450)</a:t>
                </a:r>
                <a:br>
                  <a:rPr lang="en-US" sz="800">
                    <a:solidFill>
                      <a:srgbClr val="3730A3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</a:br>
                <a:r>
                  <a:rPr lang="en-US" sz="800">
                    <a:solidFill>
                      <a:srgbClr val="3730A3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• Environmental Factor (2.68 kg CO2/L fuel)</a:t>
                </a:r>
                <a:endParaRPr sz="800">
                  <a:solidFill>
                    <a:srgbClr val="3730A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sp>
        <p:nvSpPr>
          <p:cNvPr descr="Your startup LOGO" id="526" name="Google Shape;526;g40a0314b14e_0_4553"/>
          <p:cNvSpPr/>
          <p:nvPr/>
        </p:nvSpPr>
        <p:spPr>
          <a:xfrm>
            <a:off x="329775" y="131023"/>
            <a:ext cx="14412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 Wizards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409fd4ada4e_9_269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g409fd4ada4e_9_26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34" name="Google Shape;534;g409fd4ada4e_9_269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35" name="Google Shape;535;g409fd4ada4e_9_269"/>
          <p:cNvSpPr/>
          <p:nvPr/>
        </p:nvSpPr>
        <p:spPr>
          <a:xfrm>
            <a:off x="0" y="1791032"/>
            <a:ext cx="12192000" cy="43192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DAE5F1"/>
          </a:solidFill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g409fd4ada4e_9_269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Kindly keep the maximum slides limit up to six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(6).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Including the title slide) 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to avoid paragraphs and post your idea in points /diagrams / Infographics /pictures 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your explanation precise and easy to understand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 should be unique and novel. 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only use provided template for making the PPT without changing the idea details pointers (mentioned in previous slides).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need to save the file in PDF and upload the same on portal. No PPT, Word Doc or any other format will be supported.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885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Note - You can delete this slide (Important Pointers) when you upload the details of your idea on SIH portal.</a:t>
            </a:r>
            <a:endParaRPr b="1" i="0" sz="18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230" lvl="1" marL="9144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g409fd4ada4e_9_269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INSTRUCTIONS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8" name="Google Shape;538;g409fd4ada4e_9_269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Please ensure below pointers are met while submitting the Idea PPT: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9" name="Google Shape;539;g409fd4ada4e_9_2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